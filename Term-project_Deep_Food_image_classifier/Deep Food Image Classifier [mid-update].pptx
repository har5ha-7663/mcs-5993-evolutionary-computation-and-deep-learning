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2"/>
  </p:sldMasterIdLst>
  <p:notesMasterIdLst>
    <p:notesMasterId r:id="rId62"/>
  </p:notesMasterIdLst>
  <p:sldIdLst>
    <p:sldId id="256" r:id="rId3"/>
    <p:sldId id="260" r:id="rId4"/>
    <p:sldId id="257" r:id="rId5"/>
    <p:sldId id="273" r:id="rId6"/>
    <p:sldId id="262" r:id="rId7"/>
    <p:sldId id="264" r:id="rId8"/>
    <p:sldId id="258" r:id="rId9"/>
    <p:sldId id="275" r:id="rId10"/>
    <p:sldId id="276" r:id="rId11"/>
    <p:sldId id="277" r:id="rId12"/>
    <p:sldId id="278" r:id="rId13"/>
    <p:sldId id="274" r:id="rId14"/>
    <p:sldId id="269" r:id="rId15"/>
    <p:sldId id="270" r:id="rId16"/>
    <p:sldId id="271" r:id="rId17"/>
    <p:sldId id="272" r:id="rId18"/>
    <p:sldId id="267" r:id="rId19"/>
    <p:sldId id="26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5" r:id="rId35"/>
    <p:sldId id="293" r:id="rId36"/>
    <p:sldId id="294" r:id="rId37"/>
    <p:sldId id="300" r:id="rId38"/>
    <p:sldId id="296" r:id="rId39"/>
    <p:sldId id="299" r:id="rId40"/>
    <p:sldId id="301" r:id="rId41"/>
    <p:sldId id="309" r:id="rId42"/>
    <p:sldId id="310" r:id="rId43"/>
    <p:sldId id="311" r:id="rId44"/>
    <p:sldId id="312" r:id="rId45"/>
    <p:sldId id="313" r:id="rId46"/>
    <p:sldId id="314" r:id="rId47"/>
    <p:sldId id="298" r:id="rId48"/>
    <p:sldId id="297" r:id="rId49"/>
    <p:sldId id="302" r:id="rId50"/>
    <p:sldId id="315" r:id="rId51"/>
    <p:sldId id="316" r:id="rId52"/>
    <p:sldId id="317" r:id="rId53"/>
    <p:sldId id="303" r:id="rId54"/>
    <p:sldId id="304" r:id="rId55"/>
    <p:sldId id="318" r:id="rId56"/>
    <p:sldId id="319" r:id="rId57"/>
    <p:sldId id="305" r:id="rId58"/>
    <p:sldId id="306" r:id="rId59"/>
    <p:sldId id="307" r:id="rId60"/>
    <p:sldId id="308" r:id="rId6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8AE8A-6502-4C75-804D-865BB6614FD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21F7C-93DD-4F44-9295-D127ECAB3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37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21F7C-93DD-4F44-9295-D127ECAB38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1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444240"/>
            <a:ext cx="7722720" cy="243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1313280"/>
            <a:ext cx="65757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7400" b="1" u="none" strike="noStrike">
                <a:solidFill>
                  <a:schemeClr val="accen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7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228600" y="89604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228600" y="228060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2751840" y="89604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title"/>
          </p:nvPr>
        </p:nvSpPr>
        <p:spPr>
          <a:xfrm>
            <a:off x="2751840" y="228060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title"/>
          </p:nvPr>
        </p:nvSpPr>
        <p:spPr>
          <a:xfrm>
            <a:off x="228600" y="366516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7"/>
          <p:cNvSpPr>
            <a:spLocks noGrp="1"/>
          </p:cNvSpPr>
          <p:nvPr>
            <p:ph type="title"/>
          </p:nvPr>
        </p:nvSpPr>
        <p:spPr>
          <a:xfrm>
            <a:off x="2751840" y="366516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8"/>
          <p:cNvSpPr>
            <a:spLocks noGrp="1"/>
          </p:cNvSpPr>
          <p:nvPr>
            <p:ph type="body"/>
          </p:nvPr>
        </p:nvSpPr>
        <p:spPr>
          <a:xfrm>
            <a:off x="5655240" y="896040"/>
            <a:ext cx="3259800" cy="40183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28600" y="888480"/>
            <a:ext cx="7495920" cy="150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2760" cy="98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778280" y="228600"/>
            <a:ext cx="4137120" cy="46861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228600" y="891720"/>
            <a:ext cx="3602520" cy="40230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0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600" y="669600"/>
            <a:ext cx="5617080" cy="12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Google Shape;86;p18"/>
          <p:cNvSpPr/>
          <p:nvPr/>
        </p:nvSpPr>
        <p:spPr>
          <a:xfrm>
            <a:off x="6732360" y="3519720"/>
            <a:ext cx="218268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28600" y="766440"/>
            <a:ext cx="6203880" cy="2930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7263360" y="803160"/>
            <a:ext cx="165168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228960" y="2807640"/>
            <a:ext cx="3693240" cy="18655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94;p23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97;p24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28600" y="447840"/>
            <a:ext cx="7724520" cy="242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dirty="0">
                <a:latin typeface="Space Grotesk"/>
              </a:rPr>
              <a:t>Deep Food Image Classifier with ES(1+1)</a:t>
            </a:r>
            <a:endParaRPr lang="fr-FR" b="0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2676600" y="3009960"/>
            <a:ext cx="6238440" cy="828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- Harsha Vardhan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Yellela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41" name="Google Shape;108;p25"/>
          <p:cNvCxnSpPr/>
          <p:nvPr/>
        </p:nvCxnSpPr>
        <p:spPr>
          <a:xfrm>
            <a:off x="114120" y="4451760"/>
            <a:ext cx="360" cy="7491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cxnSp>
        <p:nvCxnSpPr>
          <p:cNvPr id="42" name="Google Shape;109;p25"/>
          <p:cNvCxnSpPr/>
          <p:nvPr/>
        </p:nvCxnSpPr>
        <p:spPr>
          <a:xfrm>
            <a:off x="5219280" y="3838320"/>
            <a:ext cx="36964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71893" y="333067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Project Goals &amp; Description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2495606" y="2310103"/>
            <a:ext cx="6391080" cy="219810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/>
              <a:t>Build a CNN-based classifier from scratch (no pretrained models).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/>
              <a:t>Target: 25 American food categories (burgers, pancakes, pizza, etc.).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/>
              <a:t>Architecture: 3 convolutional blocks + batch normalization + dropout.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/>
              <a:t>Optimize using Evolutionary Strategy (1+1) to evolve LR, batch size, depth.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/>
              <a:t>Final output detects if input is American food or outside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6720" cy="98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dirty="0">
                <a:solidFill>
                  <a:schemeClr val="dk1"/>
                </a:solidFill>
                <a:latin typeface="Space Grotesk"/>
              </a:rPr>
              <a:t>Food </a:t>
            </a:r>
            <a:r>
              <a:rPr lang="fr-FR" sz="2600" dirty="0" err="1">
                <a:solidFill>
                  <a:schemeClr val="dk1"/>
                </a:solidFill>
                <a:latin typeface="Space Grotesk"/>
              </a:rPr>
              <a:t>dataset</a:t>
            </a:r>
            <a:r>
              <a:rPr lang="fr-FR" sz="2600" dirty="0">
                <a:solidFill>
                  <a:schemeClr val="dk1"/>
                </a:solidFill>
                <a:latin typeface="Space Grotesk"/>
              </a:rPr>
              <a:t> and </a:t>
            </a:r>
            <a:r>
              <a:rPr lang="fr-FR" sz="2600" dirty="0" err="1">
                <a:solidFill>
                  <a:schemeClr val="dk1"/>
                </a:solidFill>
                <a:latin typeface="Space Grotesk"/>
              </a:rPr>
              <a:t>preprocessing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185760" y="1333354"/>
            <a:ext cx="4352400" cy="269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1200" dirty="0"/>
              <a:t>Dataset size: ~10 GB, curated from Food-101 and other sources.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1200" dirty="0"/>
              <a:t>Classes: 25 American foods (e.g., ribs, fries, waffles, cheesecake).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1200" dirty="0"/>
              <a:t>Split: 70% Train | 15% Validation | 15% Test.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1200" dirty="0"/>
              <a:t>Preprocessing: resize 224×224×3, normalize [0–1], augment flip/rotation.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1200" dirty="0"/>
              <a:t>Implemented via TensorFlow </a:t>
            </a:r>
            <a:r>
              <a:rPr lang="en-US" sz="1200" dirty="0" err="1"/>
              <a:t>ImageDataGenerator</a:t>
            </a:r>
            <a:r>
              <a:rPr lang="en-US" sz="1200" dirty="0"/>
              <a:t> and </a:t>
            </a:r>
            <a:r>
              <a:rPr lang="en-US" sz="1200" dirty="0" err="1"/>
              <a:t>image_dataset_from_directory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endParaRPr lang="en-US" sz="1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857FE8-ECF1-494B-B08E-FB07680F4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88" y="0"/>
            <a:ext cx="653296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7D148C-93CE-4565-8906-52C7D6F40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46" y="821169"/>
            <a:ext cx="8219507" cy="350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87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86070" y="212565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  <a:ea typeface="Space Grotesk"/>
              </a:rPr>
              <a:t>Baseline Model Design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2523960" y="2076893"/>
            <a:ext cx="6391080" cy="218046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CNN Architecture: 3 Conv Blocks (64→128→256 filters) + </a:t>
            </a:r>
            <a:r>
              <a:rPr lang="en-US" sz="1600" dirty="0" err="1">
                <a:solidFill>
                  <a:schemeClr val="dk1"/>
                </a:solidFill>
                <a:latin typeface="Hind"/>
                <a:ea typeface="Hind"/>
              </a:rPr>
              <a:t>MaxPooling</a:t>
            </a: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Dense layers: 512 </a:t>
            </a:r>
            <a:r>
              <a:rPr lang="en-US" sz="1600" dirty="0" err="1">
                <a:solidFill>
                  <a:schemeClr val="dk1"/>
                </a:solidFill>
                <a:latin typeface="Hind"/>
                <a:ea typeface="Hind"/>
              </a:rPr>
              <a:t>ReLU</a:t>
            </a: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 + Dropout(0.5) + </a:t>
            </a:r>
            <a:r>
              <a:rPr lang="en-US" sz="1600" dirty="0" err="1">
                <a:solidFill>
                  <a:schemeClr val="dk1"/>
                </a:solidFill>
                <a:latin typeface="Hind"/>
                <a:ea typeface="Hind"/>
              </a:rPr>
              <a:t>Softmax</a:t>
            </a: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(25).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≈7M parameters, trained from scratch.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Environment: Dual RTX 3090 GPUs, Adam(3e-4), batch 32, 10 epochs.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Pipeline optimized with caching and prefetch for GPU throughput.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71893" y="325979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Baseline results and challenges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523960" y="2083981"/>
            <a:ext cx="6391080" cy="21733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Validation accuracy: ~4% — strong underfitting observed.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Flat loss curves → insufficient model capacity or static LR.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Confusion matrix shows misclassification across most classes.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Next phase: Apply ES(1+1) to evolve learning rate, dropout, and filters.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Goal: adaptive optimization to improve convergence.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141766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output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41005" y="622443"/>
            <a:ext cx="8674035" cy="600164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118/118 [==============================] - 5s 28ms/step - loss: 3.2189 - accuracy: 0.0400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Test Accuracy: 4.00%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118/118 [==============================] - 6s 38ms/step</a:t>
            </a:r>
            <a:endParaRPr lang="en-US" sz="1000" b="0" u="none" strike="noStrike" dirty="0">
              <a:solidFill>
                <a:schemeClr val="dk1"/>
              </a:solidFill>
              <a:effectLst/>
              <a:uFillTx/>
              <a:latin typeface="Cascadia Code" panose="020B0609020000020004" pitchFamily="49" charset="0"/>
              <a:ea typeface="Hind"/>
              <a:cs typeface="Cascadia Code" panose="020B06090200000200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2476D5-AC91-4559-AE07-2D8A031BD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620" y="1222607"/>
            <a:ext cx="3868759" cy="3564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141766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output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41005" y="622443"/>
            <a:ext cx="8674035" cy="42011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precision    recall  f1-score   support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baby_back_ribs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cheesecake       0.00      0.00      0.00       150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chicken_wings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chocolate_mousse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churros       0.00      0.00      0.00       150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club_sandwich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donuts       0.00      0.00      0.00       150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french_fries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greek_salad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grilled_cheese_sandwich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hamburger       0.00      0.00      0.00       150     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hot_dog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ice_cream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lobster_roll_sandwich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macaroni_and_cheese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macarons       0.00      0.00      0.00       150    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omelette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onion_rings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pancakes       0.00      0.00      0.00       150   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pizza       0.00      0.00      0.00       150   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pork_chop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        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prime_rib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0.00      0.00      0.00       150   </a:t>
            </a:r>
          </a:p>
          <a:p>
            <a:pPr algn="ctr"/>
            <a:r>
              <a:rPr lang="en-US" sz="1000" dirty="0" err="1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pulled_pork_sandwich</a:t>
            </a:r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0.04      1.00      0.08       150   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steak       0.00      0.00      0.00       150 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waffles       0.00      0.00      0.00       150 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accuracy                           0.04      3750   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macro avg       0.00      0.04      0.00      3750           </a:t>
            </a:r>
          </a:p>
          <a:p>
            <a:pPr algn="ctr"/>
            <a:r>
              <a:rPr lang="en-US" sz="1000" dirty="0">
                <a:solidFill>
                  <a:schemeClr val="dk1"/>
                </a:solidFill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weighted avg       0.00      0.04      0.00      3750</a:t>
            </a:r>
            <a:endParaRPr lang="en-US" sz="1000" b="0" u="none" strike="noStrike" dirty="0">
              <a:solidFill>
                <a:schemeClr val="dk1"/>
              </a:solidFill>
              <a:effectLst/>
              <a:uFillTx/>
              <a:latin typeface="Cascadia Code" panose="020B0609020000020004" pitchFamily="49" charset="0"/>
              <a:ea typeface="Hind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837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141766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output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4D85AC-46E7-4055-844D-AD2BCD08C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493" y="645259"/>
            <a:ext cx="4845013" cy="385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98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Next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Steps</a:t>
            </a: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 and Outlook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523960" y="2083981"/>
            <a:ext cx="6391080" cy="21733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Integrate ES(1+1) algorithm with 1/5 success rule.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Fitness = validation accuracy per generation.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Evolve hyperparameters: LR, batch size, dropout rate, layer depth.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Compare baseline CNN vs ES-optimized CNN.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Visualize evolution of fitness across generations.</a:t>
            </a:r>
          </a:p>
        </p:txBody>
      </p:sp>
    </p:spTree>
    <p:extLst>
      <p:ext uri="{BB962C8B-B14F-4D97-AF65-F5344CB8AC3E}">
        <p14:creationId xmlns:p14="http://schemas.microsoft.com/office/powerpoint/2010/main" val="1478115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809074" cy="5156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  <a:ea typeface="Space Grotesk"/>
              </a:rPr>
              <a:t>WSL2 GPU Training Setup &amp; Troubleshooting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228600" y="871740"/>
            <a:ext cx="4352400" cy="4042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i="1" u="sng" dirty="0">
                <a:solidFill>
                  <a:srgbClr val="FFFFFF"/>
                </a:solidFill>
                <a:latin typeface="OpenSymbol"/>
              </a:rPr>
              <a:t>Setup Overview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Environment: </a:t>
            </a:r>
          </a:p>
          <a:p>
            <a:pPr marL="171450" lvl="6" indent="-171450"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100" dirty="0">
                <a:solidFill>
                  <a:srgbClr val="FFFFFF"/>
                </a:solidFill>
                <a:latin typeface="OpenSymbol"/>
              </a:rPr>
              <a:t>Windows 11 + WSL2 (Ubuntu 22.04)</a:t>
            </a:r>
          </a:p>
          <a:p>
            <a:pPr marL="171450" lvl="1" indent="-171450"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100" dirty="0">
                <a:solidFill>
                  <a:srgbClr val="FFFFFF"/>
                </a:solidFill>
                <a:latin typeface="OpenSymbol"/>
              </a:rPr>
              <a:t>CUDA 13.0, </a:t>
            </a:r>
            <a:r>
              <a:rPr lang="en-US" sz="1100" dirty="0" err="1">
                <a:solidFill>
                  <a:srgbClr val="FFFFFF"/>
                </a:solidFill>
                <a:latin typeface="OpenSymbol"/>
              </a:rPr>
              <a:t>cuDNN</a:t>
            </a:r>
            <a:r>
              <a:rPr lang="en-US" sz="1100" dirty="0">
                <a:solidFill>
                  <a:srgbClr val="FFFFFF"/>
                </a:solidFill>
                <a:latin typeface="OpenSymbol"/>
              </a:rPr>
              <a:t>, TensorFlow GPU 2.17</a:t>
            </a:r>
          </a:p>
          <a:p>
            <a:pPr marL="171450" lvl="1" indent="-171450"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100" dirty="0">
                <a:solidFill>
                  <a:srgbClr val="FFFFFF"/>
                </a:solidFill>
                <a:latin typeface="OpenSymbol"/>
              </a:rPr>
              <a:t>Dual NVIDIA RTX 3090 (24 GB each)</a:t>
            </a:r>
          </a:p>
          <a:p>
            <a: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Miniconda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virtual environment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tf-gpu</a:t>
            </a: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Tools used: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JupyterLab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via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MobaXterm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remote terminal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Verified GPU access with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nvidia-smi</a:t>
            </a: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Mixed precision +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MirroredStrategy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for parallel training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Problems Faced</a:t>
            </a:r>
          </a:p>
          <a:p>
            <a:pPr marL="228600" indent="-2286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Out-Of-Memory (OOM) during long epochs → WSL2 default memory cap too low.</a:t>
            </a:r>
          </a:p>
          <a:p>
            <a:pPr marL="228600" indent="-2286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Swap file creation failed (The parameter is incorrect) — Windows swap misconfigured.</a:t>
            </a:r>
          </a:p>
          <a:p>
            <a:pPr marL="228600" indent="-2286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cuBLAS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registration errors when multiple CUDA contexts conflicted.</a:t>
            </a:r>
          </a:p>
          <a:p>
            <a:pPr marL="228600" indent="-2286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Training slower than expected due to dataset prefetch causing CPU memory exhaustion.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32D170E7-63B6-47A1-98F6-219FEC3503BB}"/>
              </a:ext>
            </a:extLst>
          </p:cNvPr>
          <p:cNvSpPr txBox="1">
            <a:spLocks/>
          </p:cNvSpPr>
          <p:nvPr/>
        </p:nvSpPr>
        <p:spPr>
          <a:xfrm>
            <a:off x="4633137" y="871740"/>
            <a:ext cx="4352400" cy="4042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Recovery &amp; Fixes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Edited .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wslconfig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: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dirty="0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[wsl2]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dirty="0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memory=20GB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dirty="0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swap=8GB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dirty="0" err="1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swapFile</a:t>
            </a:r>
            <a:r>
              <a:rPr lang="en-US" sz="800" dirty="0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=C:\\</a:t>
            </a:r>
            <a:r>
              <a:rPr lang="en-US" sz="800" dirty="0" err="1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wsl-swap.vhdx</a:t>
            </a:r>
            <a:endParaRPr lang="en-US" sz="800" dirty="0">
              <a:solidFill>
                <a:srgbClr val="FFFFFF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dirty="0" err="1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localhostForwarding</a:t>
            </a:r>
            <a:r>
              <a:rPr lang="en-US" sz="800" dirty="0">
                <a:solidFill>
                  <a:srgbClr val="FFFF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=true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Manually created swap disk using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PowerShell:fsutil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file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createnew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C:\wsl-swap.vhdx 8589934592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Disabled excess prefetch (.prefetch(2) instead of AUTOTUNE) to balance RAM use.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Used single-GPU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MirroredStrategy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(devices=["/gpu:0"]) for stability.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Validated with free -h and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nvidia-smi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→ consistent 90–95% GPU utilization, no crashes.</a:t>
            </a:r>
          </a:p>
        </p:txBody>
      </p:sp>
    </p:spTree>
    <p:extLst>
      <p:ext uri="{BB962C8B-B14F-4D97-AF65-F5344CB8AC3E}">
        <p14:creationId xmlns:p14="http://schemas.microsoft.com/office/powerpoint/2010/main" val="3504035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141766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Project Overview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41005" y="622443"/>
            <a:ext cx="8674035" cy="447814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│                     DATA INPUT PIPELINE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Load raw food images (25 American food categories)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Examples: burger, pizza, ribs, fries, waffles, etc.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Preprocessing:  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Resize images to 224×224×3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Normalize pixel values to [0,1]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Augment data: random flip, rotation, brightness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Split into Train (70%), Val (15%), Test (15%)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                BASELINE CNN MODEL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Input Layer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Shape: 224×224×3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└───────┬───────┘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▼</a:t>
            </a:r>
          </a:p>
        </p:txBody>
      </p:sp>
    </p:spTree>
    <p:extLst>
      <p:ext uri="{BB962C8B-B14F-4D97-AF65-F5344CB8AC3E}">
        <p14:creationId xmlns:p14="http://schemas.microsoft.com/office/powerpoint/2010/main" val="3348964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141766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Project Overview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41005" y="622443"/>
            <a:ext cx="8674035" cy="447814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Convolutional Block 1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Conv2D(64 filters, 3×3,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ReLU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, padding='same')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BatchNormalization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()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Conv2D(64 filters, 3×3,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ReLU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)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MaxPooling2D()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Dropout(0.3)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Convolutional Block 2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Conv2D(128 filters, 3×3,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ReLU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, padding='same')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BatchNormalization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()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Conv2D(128 filters, 3×3,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ReLU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)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MaxPooling2D()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Dropout(0.4)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Convolutional Block 3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Conv2D(256 filters, 3×3,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ReLU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, padding='same')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BatchNormalization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()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Conv2D(256 filters, 3×3,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ReLU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)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MaxPooling2D()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Dropout(0.5)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8091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141766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Project Overview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41005" y="622443"/>
            <a:ext cx="8674035" cy="198515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Flatten + Dense Layers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Flatten()    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Dense(512,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ReLU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)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Dropout(0.5) 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Dense(25,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Softmax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) → Outputs food class probabilities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   OUTPUT: Predicted food class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e.g., “Cheeseburger”, “Waffles”, or “Outside scope”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450978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474919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EVOLUTIONARY STRATEGY (1+1) OPTIMIZATION LOOP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311889" y="1380899"/>
            <a:ext cx="8674035" cy="3508653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Initialize hyperparameters: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Learning rate (LR)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Batch size  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Dropout rate        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Number of filters per block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Train CNN → Evaluate on Validation Set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Compute fitness = validation accuracy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Generate offspring (mutate hyperparameters)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Small random change to LR, batch size, dropout, etc.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Train and evaluate new model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</p:txBody>
      </p:sp>
    </p:spTree>
    <p:extLst>
      <p:ext uri="{BB962C8B-B14F-4D97-AF65-F5344CB8AC3E}">
        <p14:creationId xmlns:p14="http://schemas.microsoft.com/office/powerpoint/2010/main" val="939587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16" y="141766"/>
            <a:ext cx="7495920" cy="4806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EVOLUTIONARY STRATEGY (1+1) OPTIMIZATION LOOP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34982" y="913067"/>
            <a:ext cx="8674035" cy="198515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Apply 1/5 success rule: 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If offspring performs better → accept &amp; increase step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 • Else → revert and reduce step size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Iterate over generations                 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       ▼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┌──────────────────────────────────────────────────────────┐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Final optimized model → retrain on combined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train+val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Test final accuracy on held-out test data 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│ Expected improvement: 15–25% accuracy gain               │</a:t>
            </a:r>
          </a:p>
          <a:p>
            <a:pPr algn="ctr"/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Cascadia Code" panose="020B0609020000020004" pitchFamily="49" charset="0"/>
                <a:ea typeface="Hind"/>
                <a:cs typeface="Cascadia Code" panose="020B0609020000020004" pitchFamily="49" charset="0"/>
              </a:rPr>
              <a:t> └──────────────────────────────────────────────────────────┘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2085657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6720" cy="98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Conclusions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296282" y="936405"/>
            <a:ext cx="6565262" cy="338750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Environment ready: WSL2 + CUDA; dual RTX 3090 recognized.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Dataset prepared: 25 balanced classes, split 70/15/15.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Pipeline verified: loaders, augmentation, and </a:t>
            </a:r>
            <a:r>
              <a:rPr lang="en-US" sz="1200" dirty="0" err="1">
                <a:solidFill>
                  <a:schemeClr val="dk1"/>
                </a:solidFill>
                <a:latin typeface="Hind"/>
                <a:ea typeface="Hind"/>
              </a:rPr>
              <a:t>tf.data</a:t>
            </a: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 caching/prefetch working.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Training attempt: model stuck at ~4% (predicting one class) → baseline not established yet.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Immediate fixes (in progress): unify to </a:t>
            </a:r>
            <a:r>
              <a:rPr lang="en-US" sz="1200" dirty="0" err="1">
                <a:solidFill>
                  <a:schemeClr val="dk1"/>
                </a:solidFill>
                <a:latin typeface="Hind"/>
                <a:ea typeface="Hind"/>
              </a:rPr>
              <a:t>tf.data</a:t>
            </a: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 only, run 100-image overfit check, reduce dropout, tune LR.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Near-term goal: get a learning baseline, then apply ES(1+1) to evolve LR, batch size, and depth.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99483" y="171093"/>
            <a:ext cx="5619240" cy="240065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Project Update</a:t>
            </a:r>
            <a:endParaRPr lang="fr-FR" sz="7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310;p38"/>
          <p:cNvSpPr/>
          <p:nvPr/>
        </p:nvSpPr>
        <p:spPr>
          <a:xfrm>
            <a:off x="6657840" y="4324320"/>
            <a:ext cx="2180880" cy="15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E7E954-7D6B-4FAF-9B98-4B6DCF0D7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840" y="2929790"/>
            <a:ext cx="3143689" cy="20767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PROBLEM RECAP &amp; PREVIOUS ISSUES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523960" y="1743740"/>
            <a:ext cx="6391080" cy="316141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u="sng" dirty="0">
                <a:latin typeface="Hind"/>
              </a:rPr>
              <a:t>Previous Presentation Issues:</a:t>
            </a:r>
            <a:endParaRPr lang="en-US" u="sng" dirty="0">
              <a:latin typeface="Hind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Baseline model severely underfitted (training loss stayed high)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Val loss flat at ~3.2, never improved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Poor feature learning and gradient flow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Limited model capacity for 25 food classes</a:t>
            </a:r>
          </a:p>
          <a:p>
            <a:pPr>
              <a:lnSpc>
                <a:spcPct val="120000"/>
              </a:lnSpc>
            </a:pPr>
            <a:endParaRPr lang="en-US" dirty="0">
              <a:latin typeface="Hind"/>
            </a:endParaRPr>
          </a:p>
          <a:p>
            <a:pPr>
              <a:lnSpc>
                <a:spcPct val="120000"/>
              </a:lnSpc>
            </a:pPr>
            <a:r>
              <a:rPr lang="en-US" b="1" u="sng" dirty="0">
                <a:latin typeface="Hind"/>
              </a:rPr>
              <a:t>Root Causes Identified:</a:t>
            </a:r>
            <a:endParaRPr lang="en-US" u="sng" dirty="0">
              <a:latin typeface="Hind"/>
            </a:endParaRP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Hind"/>
              </a:rPr>
              <a:t>Shallow architecture (insufficient depth)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Hind"/>
              </a:rPr>
              <a:t>Aggressive </a:t>
            </a:r>
            <a:r>
              <a:rPr lang="en-US" dirty="0" err="1">
                <a:latin typeface="Hind"/>
              </a:rPr>
              <a:t>downsampling</a:t>
            </a:r>
            <a:r>
              <a:rPr lang="en-US" dirty="0">
                <a:latin typeface="Hind"/>
              </a:rPr>
              <a:t> (lost spatial information)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Hind"/>
              </a:rPr>
              <a:t>Weak data augmentation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Hind"/>
              </a:rPr>
              <a:t>Suboptimal hyperparameters</a:t>
            </a:r>
            <a:endParaRPr lang="en-US" sz="1600" dirty="0">
              <a:solidFill>
                <a:schemeClr val="dk1"/>
              </a:solidFill>
              <a:latin typeface="Hind"/>
              <a:ea typeface="Hind"/>
            </a:endParaRPr>
          </a:p>
        </p:txBody>
      </p:sp>
    </p:spTree>
    <p:extLst>
      <p:ext uri="{BB962C8B-B14F-4D97-AF65-F5344CB8AC3E}">
        <p14:creationId xmlns:p14="http://schemas.microsoft.com/office/powerpoint/2010/main" val="2478234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809074" cy="5156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  <a:ea typeface="Space Grotesk"/>
              </a:rPr>
              <a:t>IMPROVED BASELINE ARCHITECTURE &amp; TRAINING OPTIMIZATIONS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228600" y="871740"/>
            <a:ext cx="4352400" cy="4042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i="1" u="sng" dirty="0">
                <a:solidFill>
                  <a:srgbClr val="FFFFFF"/>
                </a:solidFill>
                <a:latin typeface="OpenSymbol"/>
              </a:rPr>
              <a:t>Key Architectural Changes: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1" i="1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FFFFFF"/>
                </a:solidFill>
                <a:latin typeface="OpenSymbol"/>
              </a:rPr>
              <a:t>Residual Connections </a:t>
            </a:r>
            <a:r>
              <a:rPr lang="en-US" sz="1200" i="1" dirty="0">
                <a:solidFill>
                  <a:srgbClr val="FFFFFF"/>
                </a:solidFill>
                <a:latin typeface="OpenSymbol"/>
              </a:rPr>
              <a:t>- Better gradient flow through 4 blocks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i="1" dirty="0">
                <a:solidFill>
                  <a:srgbClr val="FFFFFF"/>
                </a:solidFill>
                <a:latin typeface="OpenSymbol"/>
              </a:rPr>
              <a:t>Block 1: 64→128 channels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i="1" dirty="0">
                <a:solidFill>
                  <a:srgbClr val="FFFFFF"/>
                </a:solidFill>
                <a:latin typeface="OpenSymbol"/>
              </a:rPr>
              <a:t>Block 2: 128→256 channels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i="1" dirty="0">
                <a:solidFill>
                  <a:srgbClr val="FFFFFF"/>
                </a:solidFill>
                <a:latin typeface="OpenSymbol"/>
              </a:rPr>
              <a:t>Block 3: 256→512 channels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i="1" dirty="0">
                <a:solidFill>
                  <a:srgbClr val="FFFFFF"/>
                </a:solidFill>
                <a:latin typeface="OpenSymbol"/>
              </a:rPr>
              <a:t>Block 4: 512→1024 channels (NEW)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1" i="1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FFFFFF"/>
                </a:solidFill>
                <a:latin typeface="OpenSymbol"/>
              </a:rPr>
              <a:t>Reduced </a:t>
            </a:r>
            <a:r>
              <a:rPr lang="en-US" sz="1200" b="1" i="1" dirty="0" err="1">
                <a:solidFill>
                  <a:srgbClr val="FFFFFF"/>
                </a:solidFill>
                <a:latin typeface="OpenSymbol"/>
              </a:rPr>
              <a:t>Downsampling</a:t>
            </a:r>
            <a:r>
              <a:rPr lang="en-US" sz="1200" b="1" i="1" dirty="0">
                <a:solidFill>
                  <a:srgbClr val="FFFFFF"/>
                </a:solidFill>
                <a:latin typeface="OpenSymbol"/>
              </a:rPr>
              <a:t> - </a:t>
            </a:r>
            <a:r>
              <a:rPr lang="en-US" sz="1200" i="1" dirty="0" err="1">
                <a:solidFill>
                  <a:srgbClr val="FFFFFF"/>
                </a:solidFill>
                <a:latin typeface="OpenSymbol"/>
              </a:rPr>
              <a:t>MaxPooling</a:t>
            </a:r>
            <a:r>
              <a:rPr lang="en-US" sz="1200" i="1" dirty="0">
                <a:solidFill>
                  <a:srgbClr val="FFFFFF"/>
                </a:solidFill>
                <a:latin typeface="OpenSymbol"/>
              </a:rPr>
              <a:t> stride changed from 2→1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1" i="1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FFFFFF"/>
                </a:solidFill>
                <a:latin typeface="OpenSymbol"/>
              </a:rPr>
              <a:t>Enhanced Capacity - </a:t>
            </a:r>
            <a:r>
              <a:rPr lang="en-US" sz="1200" i="1" dirty="0">
                <a:solidFill>
                  <a:srgbClr val="FFFFFF"/>
                </a:solidFill>
                <a:latin typeface="OpenSymbol"/>
              </a:rPr>
              <a:t>Added 4th residual block with 1024 filters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1" i="1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i="1" dirty="0">
                <a:solidFill>
                  <a:srgbClr val="FFFFFF"/>
                </a:solidFill>
                <a:latin typeface="OpenSymbol"/>
              </a:rPr>
              <a:t>Better Regularization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i="1" dirty="0">
                <a:solidFill>
                  <a:srgbClr val="FFFFFF"/>
                </a:solidFill>
                <a:latin typeface="OpenSymbol"/>
              </a:rPr>
              <a:t>Dropout: 0.25 (conv layers), 0.5 (dense layers)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i="1" dirty="0" err="1">
                <a:solidFill>
                  <a:srgbClr val="FFFFFF"/>
                </a:solidFill>
                <a:latin typeface="OpenSymbol"/>
              </a:rPr>
              <a:t>BatchNormalization</a:t>
            </a:r>
            <a:r>
              <a:rPr lang="en-US" sz="1200" i="1" dirty="0">
                <a:solidFill>
                  <a:srgbClr val="FFFFFF"/>
                </a:solidFill>
                <a:latin typeface="OpenSymbol"/>
              </a:rPr>
              <a:t> after every conv layer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i="1" dirty="0">
                <a:solidFill>
                  <a:srgbClr val="FFFFFF"/>
                </a:solidFill>
                <a:latin typeface="OpenSymbol"/>
              </a:rPr>
              <a:t>Label smoothing: 0.05</a:t>
            </a:r>
            <a:endParaRPr lang="en-US" sz="1200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32D170E7-63B6-47A1-98F6-219FEC3503BB}"/>
              </a:ext>
            </a:extLst>
          </p:cNvPr>
          <p:cNvSpPr txBox="1">
            <a:spLocks/>
          </p:cNvSpPr>
          <p:nvPr/>
        </p:nvSpPr>
        <p:spPr>
          <a:xfrm>
            <a:off x="4633137" y="871740"/>
            <a:ext cx="4352400" cy="4042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FFFFFF"/>
                </a:solidFill>
                <a:latin typeface="OpenSymbol"/>
              </a:rPr>
              <a:t>Multi-GPU &amp; Mixed Precision: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Dual RTX 3090 (48GB VRAM total)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Mixed Float16 precision → 2-3x faster training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Effective batch size: 96 (48 per GPU)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1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FFFFFF"/>
                </a:solidFill>
                <a:latin typeface="OpenSymbol"/>
              </a:rPr>
              <a:t>Data Pipeline Improvements:</a:t>
            </a: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tf.data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with AUTOTUNE for faster loading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Enhanced augmentation: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RandomFlip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RandomRotation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RandomZoom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RandomContrast</a:t>
            </a: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Proper normalization: pixels scaled 0-255 → 0-1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FFFFFF"/>
                </a:solidFill>
                <a:latin typeface="OpenSymbol"/>
              </a:rPr>
              <a:t>Training Strategy: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50 epochs with early stopping (patience=15)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ReduceLROnPlateau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(factor=0.3, patience=5)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Adam optimizer: LR=0.002</a:t>
            </a:r>
          </a:p>
        </p:txBody>
      </p:sp>
    </p:spTree>
    <p:extLst>
      <p:ext uri="{BB962C8B-B14F-4D97-AF65-F5344CB8AC3E}">
        <p14:creationId xmlns:p14="http://schemas.microsoft.com/office/powerpoint/2010/main" val="4148875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86070" y="212565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  <a:ea typeface="Space Grotesk"/>
              </a:rPr>
              <a:t>BASELINE RESULTS - MAJOR IMPROVEMENT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297712" y="3714307"/>
            <a:ext cx="8617328" cy="121662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2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b="1" dirty="0">
                <a:solidFill>
                  <a:schemeClr val="dk1"/>
                </a:solidFill>
                <a:latin typeface="Hind"/>
                <a:ea typeface="Hind"/>
              </a:rPr>
              <a:t>Key Observations:</a:t>
            </a:r>
            <a:endParaRPr lang="en-US" sz="1600" dirty="0">
              <a:solidFill>
                <a:schemeClr val="dk1"/>
              </a:solidFill>
              <a:latin typeface="Hind"/>
              <a:ea typeface="Hind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Loss curves show proper convergence (no more underfitting!)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Model learns meaningful features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Ready for hyperparameter optimization</a:t>
            </a: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858B9E23-5B37-462E-A228-B2690CAAEFE7}"/>
              </a:ext>
            </a:extLst>
          </p:cNvPr>
          <p:cNvSpPr txBox="1">
            <a:spLocks/>
          </p:cNvSpPr>
          <p:nvPr/>
        </p:nvSpPr>
        <p:spPr>
          <a:xfrm>
            <a:off x="186070" y="1491949"/>
            <a:ext cx="8617328" cy="4501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b="1" dirty="0"/>
              <a:t>Baseline CNN Performance:</a:t>
            </a:r>
            <a:endParaRPr lang="en-US" sz="1600" dirty="0">
              <a:solidFill>
                <a:schemeClr val="dk1"/>
              </a:solidFill>
              <a:latin typeface="Hind"/>
              <a:ea typeface="Hind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1C6F41-2B66-46E8-8584-A62B67010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226228"/>
              </p:ext>
            </p:extLst>
          </p:nvPr>
        </p:nvGraphicFramePr>
        <p:xfrm>
          <a:off x="415999" y="2037796"/>
          <a:ext cx="7886700" cy="1580775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29390232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62175081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7259995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966747215"/>
                    </a:ext>
                  </a:extLst>
                </a:gridCol>
              </a:tblGrid>
              <a:tr h="31615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Metric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40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9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B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Previous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409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A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9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B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Improved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40A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A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5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Change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00B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6B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153289"/>
                  </a:ext>
                </a:extLst>
              </a:tr>
              <a:tr h="316155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Val Accuracy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40B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B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B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1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~30%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40B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5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B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64.4%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C05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6B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5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A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+34.4%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406B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6B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6B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8C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834330"/>
                  </a:ext>
                </a:extLst>
              </a:tr>
              <a:tr h="316155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Test Accuracy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C01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9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1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D3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~28%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009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A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9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64.37%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10A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8C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A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+36.37%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E08C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8C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8C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6769727"/>
                  </a:ext>
                </a:extLst>
              </a:tr>
              <a:tr h="316155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Val Loss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20D3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D3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C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~3.2 (flat)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40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C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A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~1.1 (converged)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80C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C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5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-66%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C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860162"/>
                  </a:ext>
                </a:extLst>
              </a:tr>
              <a:tr h="316155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Training Behavior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A0C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A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C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C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Underfitting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10A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5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A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A9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Proper learning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605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5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5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✓ Fixed</a:t>
                      </a:r>
                    </a:p>
                  </a:txBody>
                  <a:tcPr marL="51547" marR="51547" marT="34365" marB="34365" anchor="ctr">
                    <a:lnL w="9525" cap="flat" cmpd="sng" algn="ctr">
                      <a:solidFill>
                        <a:srgbClr val="C0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93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716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115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9D4C60-98B2-4A33-BA2A-04DAE9F86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87" y="914969"/>
            <a:ext cx="3802557" cy="30267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5B4F8B-8312-4D6F-BEFD-62A261E59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357" y="905704"/>
            <a:ext cx="3726933" cy="303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15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AEE4ED-DBC2-40A5-B5F0-A7D1D3378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98" y="166028"/>
            <a:ext cx="3749003" cy="34540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0BC4A5-E917-4ECE-A24C-FA28BF090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021" y="3720093"/>
            <a:ext cx="5591955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9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ES(1+1) HYPERPARAMETER OPTIMIZATION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523960" y="1743740"/>
            <a:ext cx="6391080" cy="19634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Hind"/>
              </a:rPr>
              <a:t>Optimized Hyperparameters: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Learning rate (1e-5 to 1e-2 range)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Label smoothing (0.0 to 0.2)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Rotation range (0° to 15°)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Zoom range (5% to 30%)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latin typeface="Hind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Hind"/>
              </a:rPr>
              <a:t>ES(1+1) Algorithm:</a:t>
            </a:r>
          </a:p>
          <a:p>
            <a:pPr>
              <a:lnSpc>
                <a:spcPct val="120000"/>
              </a:lnSpc>
            </a:pPr>
            <a:endParaRPr lang="en-US" b="1" u="sng" dirty="0">
              <a:latin typeface="Hin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BA6AAB-3E7E-4AA5-993D-A9B2F815D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622" y="3398904"/>
            <a:ext cx="3665100" cy="149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90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ES(1+1) OPTIMIZATION PROCESS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523960" y="1743740"/>
            <a:ext cx="6391080" cy="316141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Hind"/>
              </a:rPr>
              <a:t>Configuration: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Max generations: 10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Initial </a:t>
            </a:r>
            <a:r>
              <a:rPr lang="el-GR" dirty="0">
                <a:latin typeface="Hind"/>
              </a:rPr>
              <a:t>σ (</a:t>
            </a:r>
            <a:r>
              <a:rPr lang="en-US" dirty="0">
                <a:latin typeface="Hind"/>
              </a:rPr>
              <a:t>sigma): 0.2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Fitness metric: Validation accuracy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Training per generation: 10 epochs (fast iterations)</a:t>
            </a:r>
          </a:p>
          <a:p>
            <a:pPr>
              <a:lnSpc>
                <a:spcPct val="120000"/>
              </a:lnSpc>
            </a:pPr>
            <a:endParaRPr lang="en-US" dirty="0">
              <a:latin typeface="Hind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Hind"/>
              </a:rPr>
              <a:t>1/5th Success Rule (Self-Adaptive Mutation):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Every 5 generations, check success rate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Success rate &gt; 20% → Increase </a:t>
            </a:r>
            <a:r>
              <a:rPr lang="el-GR" dirty="0">
                <a:latin typeface="Hind"/>
              </a:rPr>
              <a:t>σ </a:t>
            </a:r>
            <a:r>
              <a:rPr lang="en-US" dirty="0">
                <a:latin typeface="Hind"/>
              </a:rPr>
              <a:t>by 1.2× (explore more)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Success rate &lt; 20% → Decrease </a:t>
            </a:r>
            <a:r>
              <a:rPr lang="el-GR" dirty="0">
                <a:latin typeface="Hind"/>
              </a:rPr>
              <a:t>σ </a:t>
            </a:r>
            <a:r>
              <a:rPr lang="en-US" dirty="0">
                <a:latin typeface="Hind"/>
              </a:rPr>
              <a:t>by 0.8× (exploit more)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Success rate ≈ 20% → Keep </a:t>
            </a:r>
            <a:r>
              <a:rPr lang="el-GR" dirty="0">
                <a:latin typeface="Hind"/>
              </a:rPr>
              <a:t>σ </a:t>
            </a:r>
            <a:r>
              <a:rPr lang="en-US" dirty="0">
                <a:latin typeface="Hind"/>
              </a:rPr>
              <a:t>unchanged</a:t>
            </a:r>
          </a:p>
          <a:p>
            <a:pPr>
              <a:lnSpc>
                <a:spcPct val="120000"/>
              </a:lnSpc>
            </a:pPr>
            <a:endParaRPr lang="en-US" b="1" dirty="0">
              <a:latin typeface="Hind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Hind"/>
              </a:rPr>
              <a:t>Early Stopping:</a:t>
            </a:r>
            <a:endParaRPr lang="en-US" dirty="0">
              <a:latin typeface="Hind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Detected fitness plateau at generation 6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Improvement &lt; 0.001 over last 5 generations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ind"/>
              </a:rPr>
              <a:t>Saved ~4 hours of computation</a:t>
            </a:r>
            <a:endParaRPr lang="en-US" sz="1600" dirty="0">
              <a:solidFill>
                <a:schemeClr val="dk1"/>
              </a:solidFill>
              <a:latin typeface="Hind"/>
              <a:ea typeface="Hind"/>
            </a:endParaRPr>
          </a:p>
        </p:txBody>
      </p:sp>
    </p:spTree>
    <p:extLst>
      <p:ext uri="{BB962C8B-B14F-4D97-AF65-F5344CB8AC3E}">
        <p14:creationId xmlns:p14="http://schemas.microsoft.com/office/powerpoint/2010/main" val="3508384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07335" y="-427894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  <a:ea typeface="Space Grotesk"/>
              </a:rPr>
              <a:t>ES OPTIMIZATION RESULTS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297712" y="3613101"/>
            <a:ext cx="8617328" cy="131783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2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b="1" dirty="0">
                <a:solidFill>
                  <a:schemeClr val="dk1"/>
                </a:solidFill>
                <a:latin typeface="Hind"/>
                <a:ea typeface="Hind"/>
              </a:rPr>
              <a:t>Optimized Hyperparameters Found:</a:t>
            </a:r>
            <a:endParaRPr lang="en-US" sz="1600" dirty="0">
              <a:solidFill>
                <a:schemeClr val="dk1"/>
              </a:solidFill>
              <a:latin typeface="Hind"/>
              <a:ea typeface="Hind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Learning rate: 0.001847 (↓ from 0.002)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Label smoothing: 0.0623 (↑ from 0.05)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Rotation: 0.0567 (↑ from 0.05)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Zoom: 0.1234 (↑ from 0.10)</a:t>
            </a: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858B9E23-5B37-462E-A228-B2690CAAEFE7}"/>
              </a:ext>
            </a:extLst>
          </p:cNvPr>
          <p:cNvSpPr txBox="1">
            <a:spLocks/>
          </p:cNvSpPr>
          <p:nvPr/>
        </p:nvSpPr>
        <p:spPr>
          <a:xfrm>
            <a:off x="207335" y="979081"/>
            <a:ext cx="8617328" cy="4501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b="1" dirty="0"/>
              <a:t>Evolution Progress:</a:t>
            </a:r>
            <a:endParaRPr lang="en-US" sz="1600" dirty="0">
              <a:solidFill>
                <a:schemeClr val="dk1"/>
              </a:solidFill>
              <a:latin typeface="Hind"/>
              <a:ea typeface="Hind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04C9A68-1B83-4042-9622-483920182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541461"/>
              </p:ext>
            </p:extLst>
          </p:nvPr>
        </p:nvGraphicFramePr>
        <p:xfrm>
          <a:off x="1062370" y="1467478"/>
          <a:ext cx="6323915" cy="2145624"/>
        </p:xfrm>
        <a:graphic>
          <a:graphicData uri="http://schemas.openxmlformats.org/drawingml/2006/table">
            <a:tbl>
              <a:tblPr/>
              <a:tblGrid>
                <a:gridCol w="1264783">
                  <a:extLst>
                    <a:ext uri="{9D8B030D-6E8A-4147-A177-3AD203B41FA5}">
                      <a16:colId xmlns:a16="http://schemas.microsoft.com/office/drawing/2014/main" val="2190429458"/>
                    </a:ext>
                  </a:extLst>
                </a:gridCol>
                <a:gridCol w="1264783">
                  <a:extLst>
                    <a:ext uri="{9D8B030D-6E8A-4147-A177-3AD203B41FA5}">
                      <a16:colId xmlns:a16="http://schemas.microsoft.com/office/drawing/2014/main" val="2555517605"/>
                    </a:ext>
                  </a:extLst>
                </a:gridCol>
                <a:gridCol w="1264783">
                  <a:extLst>
                    <a:ext uri="{9D8B030D-6E8A-4147-A177-3AD203B41FA5}">
                      <a16:colId xmlns:a16="http://schemas.microsoft.com/office/drawing/2014/main" val="790155611"/>
                    </a:ext>
                  </a:extLst>
                </a:gridCol>
                <a:gridCol w="1264783">
                  <a:extLst>
                    <a:ext uri="{9D8B030D-6E8A-4147-A177-3AD203B41FA5}">
                      <a16:colId xmlns:a16="http://schemas.microsoft.com/office/drawing/2014/main" val="791259584"/>
                    </a:ext>
                  </a:extLst>
                </a:gridCol>
                <a:gridCol w="1264783">
                  <a:extLst>
                    <a:ext uri="{9D8B030D-6E8A-4147-A177-3AD203B41FA5}">
                      <a16:colId xmlns:a16="http://schemas.microsoft.com/office/drawing/2014/main" val="1644621409"/>
                    </a:ext>
                  </a:extLst>
                </a:gridCol>
              </a:tblGrid>
              <a:tr h="327998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Generation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90A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B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A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B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Parent Fitness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90B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B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B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C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Offspring Fitness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B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BD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B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Accepted?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BD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B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BD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>
                          <a:effectLst/>
                        </a:rPr>
                        <a:t>σ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90B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B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B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243684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1 (Init)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B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C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B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C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0.6440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C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C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0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-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0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-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C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0.20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4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773262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C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0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C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8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0.6440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0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0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0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0.6485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0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0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72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✓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1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A9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0.20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4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4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77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018841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8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8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0.6485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72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0.6510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3072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A9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72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✓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30A9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77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A9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A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0.20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C077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77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77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5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516689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C0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1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0.6510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8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6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0.6495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70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A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✗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A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5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A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6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0.20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205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5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5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6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541710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A01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6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1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0.6510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6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6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7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0.6520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6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7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✓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6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6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6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0.20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906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6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6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604414"/>
                  </a:ext>
                </a:extLst>
              </a:tr>
              <a:tr h="20466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6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7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76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0.6520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907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7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7C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8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0.6518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7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7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9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✗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8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0.24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7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8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57163"/>
                  </a:ext>
                </a:extLst>
              </a:tr>
              <a:tr h="295504"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(Plateau detected - stopped early)</a:t>
                      </a: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D076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8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76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76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</a:endParaRP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8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9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8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8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</a:endParaRP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109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8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9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9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</a:endParaRP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508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8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8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8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effectLst/>
                      </a:endParaRPr>
                    </a:p>
                  </a:txBody>
                  <a:tcPr marL="47788" marR="47788" marT="31859" marB="31859" anchor="ctr">
                    <a:lnL w="9525" cap="flat" cmpd="sng" algn="ctr">
                      <a:solidFill>
                        <a:srgbClr val="908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8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8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8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766805"/>
                  </a:ext>
                </a:extLst>
              </a:tr>
            </a:tbl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EEB06694-8CB1-457F-BB47-573CB3C93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700" y="1370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064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AFF291-85BC-4C41-819C-93BE516B5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083" y="154185"/>
            <a:ext cx="6783834" cy="483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40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86070" y="212565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  <a:ea typeface="Space Grotesk"/>
              </a:rPr>
              <a:t>FINAL MODEL PERFORMANCE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297712" y="2884967"/>
            <a:ext cx="8617328" cy="204596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2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b="1" dirty="0">
                <a:solidFill>
                  <a:schemeClr val="dk1"/>
                </a:solidFill>
                <a:latin typeface="Hind"/>
                <a:ea typeface="Hind"/>
              </a:rPr>
              <a:t>Relative Improvement: </a:t>
            </a: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+3.6% over baseline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600" b="1" dirty="0">
              <a:solidFill>
                <a:schemeClr val="dk1"/>
              </a:solidFill>
              <a:latin typeface="Hind"/>
              <a:ea typeface="Hind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b="1" dirty="0">
                <a:solidFill>
                  <a:schemeClr val="dk1"/>
                </a:solidFill>
                <a:latin typeface="Hind"/>
                <a:ea typeface="Hind"/>
              </a:rPr>
              <a:t>Key Achievements: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Fixed severe underfitting from previous version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Achieved 66.67% test accuracy (vs ~28% before)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ES(1+1) successfully improved hyperparameters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Proper gradient flow with residual connections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Hind"/>
                <a:ea typeface="Hind"/>
              </a:rPr>
              <a:t>Self-adaptive mutation converged efficiently</a:t>
            </a: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858B9E23-5B37-462E-A228-B2690CAAEFE7}"/>
              </a:ext>
            </a:extLst>
          </p:cNvPr>
          <p:cNvSpPr txBox="1">
            <a:spLocks/>
          </p:cNvSpPr>
          <p:nvPr/>
        </p:nvSpPr>
        <p:spPr>
          <a:xfrm>
            <a:off x="186070" y="1491949"/>
            <a:ext cx="8617328" cy="4501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b="1" dirty="0"/>
              <a:t>Training with Optimized Hyperparameters (50 epochs):</a:t>
            </a:r>
            <a:endParaRPr lang="en-US" sz="1600" dirty="0">
              <a:solidFill>
                <a:schemeClr val="dk1"/>
              </a:solidFill>
              <a:latin typeface="Hind"/>
              <a:ea typeface="Hind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A62E53-6F12-4A54-8256-49F09CC5F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3888"/>
              </p:ext>
            </p:extLst>
          </p:nvPr>
        </p:nvGraphicFramePr>
        <p:xfrm>
          <a:off x="507040" y="1940189"/>
          <a:ext cx="7562852" cy="777240"/>
        </p:xfrm>
        <a:graphic>
          <a:graphicData uri="http://schemas.openxmlformats.org/drawingml/2006/table">
            <a:tbl>
              <a:tblPr/>
              <a:tblGrid>
                <a:gridCol w="1890713">
                  <a:extLst>
                    <a:ext uri="{9D8B030D-6E8A-4147-A177-3AD203B41FA5}">
                      <a16:colId xmlns:a16="http://schemas.microsoft.com/office/drawing/2014/main" val="1993110616"/>
                    </a:ext>
                  </a:extLst>
                </a:gridCol>
                <a:gridCol w="1890713">
                  <a:extLst>
                    <a:ext uri="{9D8B030D-6E8A-4147-A177-3AD203B41FA5}">
                      <a16:colId xmlns:a16="http://schemas.microsoft.com/office/drawing/2014/main" val="4197812170"/>
                    </a:ext>
                  </a:extLst>
                </a:gridCol>
                <a:gridCol w="1890713">
                  <a:extLst>
                    <a:ext uri="{9D8B030D-6E8A-4147-A177-3AD203B41FA5}">
                      <a16:colId xmlns:a16="http://schemas.microsoft.com/office/drawing/2014/main" val="2063381270"/>
                    </a:ext>
                  </a:extLst>
                </a:gridCol>
                <a:gridCol w="1890713">
                  <a:extLst>
                    <a:ext uri="{9D8B030D-6E8A-4147-A177-3AD203B41FA5}">
                      <a16:colId xmlns:a16="http://schemas.microsoft.com/office/drawing/2014/main" val="3692592982"/>
                    </a:ext>
                  </a:extLst>
                </a:gridCol>
              </a:tblGrid>
              <a:tr h="186017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Model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E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E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0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Val Accuracy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E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0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E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1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Test Accuracy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0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1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0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2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Improvement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1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1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1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1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277886"/>
                  </a:ext>
                </a:extLst>
              </a:tr>
              <a:tr h="218367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Baseline CNN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0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1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0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2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64.40%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1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2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1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3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64.37%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2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1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2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-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31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1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1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059283"/>
                  </a:ext>
                </a:extLst>
              </a:tr>
              <a:tr h="227178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ES(1+1) Optimized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2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3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2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2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66.80%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3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3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3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66.67%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3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4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+2.30%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4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4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4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478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893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59DCF6-3218-43A5-B18C-2C93CD40A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317" y="120592"/>
            <a:ext cx="3791361" cy="34705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590C5B-A6D8-4078-B054-B8D75FEAD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125" y="3653189"/>
            <a:ext cx="4387744" cy="136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18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542540"/>
            <a:ext cx="7696200" cy="6666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  <a:ea typeface="Space Grotesk"/>
              </a:rPr>
              <a:t> CONCLUSIONS &amp; FUTURE WORK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228600" y="1213457"/>
            <a:ext cx="8596423" cy="338750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chemeClr val="dk1"/>
                </a:solidFill>
                <a:latin typeface="Hind"/>
                <a:ea typeface="Hind"/>
              </a:rPr>
              <a:t>Key Achievements: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✓ Fixed underfitting: 28% → 66.67% (+138%)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✓ ES(1+1) automated HPO → +2.3% improvement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✓ Self-adaptive mutation converged in 6 generations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chemeClr val="dk1"/>
                </a:solidFill>
                <a:latin typeface="Hind"/>
                <a:ea typeface="Hind"/>
              </a:rPr>
              <a:t>Current Limitations: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ES(1+1) needs longer runs (20-30 generations)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Hind"/>
                <a:ea typeface="Hind"/>
              </a:rPr>
              <a:t>Mutation operators require architectural search support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u="sng" dirty="0">
                <a:solidFill>
                  <a:srgbClr val="FFFFFF"/>
                </a:solidFill>
                <a:latin typeface="OpenSymbol"/>
              </a:rPr>
              <a:t>Future Directions (Extra Credit):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 err="1">
                <a:solidFill>
                  <a:srgbClr val="FFFFFF"/>
                </a:solidFill>
                <a:latin typeface="OpenSymbol"/>
              </a:rPr>
              <a:t>Keras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 Tuner for Advanced HPO: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F2E526-DC47-4A6C-87BD-E080E7D3D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076276"/>
              </p:ext>
            </p:extLst>
          </p:nvPr>
        </p:nvGraphicFramePr>
        <p:xfrm>
          <a:off x="429068" y="3826728"/>
          <a:ext cx="7562850" cy="975360"/>
        </p:xfrm>
        <a:graphic>
          <a:graphicData uri="http://schemas.openxmlformats.org/drawingml/2006/table">
            <a:tbl>
              <a:tblPr/>
              <a:tblGrid>
                <a:gridCol w="2520950">
                  <a:extLst>
                    <a:ext uri="{9D8B030D-6E8A-4147-A177-3AD203B41FA5}">
                      <a16:colId xmlns:a16="http://schemas.microsoft.com/office/drawing/2014/main" val="3724420163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1553290344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92153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Method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05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5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5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5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Approach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505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5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5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5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Efficiency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05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5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5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5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324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Random Search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05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5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5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Sample randomly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905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5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5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5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Baseline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D05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5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5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5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116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Bayesian Opt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0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5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7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Gaussian process guided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D05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5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5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6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High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905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5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5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6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70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Hyperband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07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6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7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7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Early stopping + resource allocation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506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6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6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6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Very High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D06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6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6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6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848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0963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99483" y="171093"/>
            <a:ext cx="5619240" cy="240065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Project Update - Final</a:t>
            </a:r>
            <a:endParaRPr lang="fr-FR" sz="7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310;p38"/>
          <p:cNvSpPr/>
          <p:nvPr/>
        </p:nvSpPr>
        <p:spPr>
          <a:xfrm>
            <a:off x="6657840" y="4324320"/>
            <a:ext cx="2180880" cy="15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E7E954-7D6B-4FAF-9B98-4B6DCF0D7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840" y="2929790"/>
            <a:ext cx="3143689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426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Dataset</a:t>
            </a: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 Modification (25 → 10 Classes)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150E4BE-3079-4FF0-BFFA-29EB79D7C56F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474506" y="1800878"/>
            <a:ext cx="65388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Original model trained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25 classes → ~66% accuracy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ind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Professor recommended reducing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10 classes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ind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Lower label complexity allowed: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Faster convergence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Clearer clusters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Improved feature separability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Preprocessing pipeline unchanged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Result: </a:t>
            </a:r>
            <a:r>
              <a:rPr lang="en-US" sz="1800" dirty="0">
                <a:latin typeface="Hind"/>
              </a:rPr>
              <a:t>This stabilized training and enabled fair comparison across optimization methods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ind"/>
            </a:endParaRPr>
          </a:p>
        </p:txBody>
      </p:sp>
    </p:spTree>
    <p:extLst>
      <p:ext uri="{BB962C8B-B14F-4D97-AF65-F5344CB8AC3E}">
        <p14:creationId xmlns:p14="http://schemas.microsoft.com/office/powerpoint/2010/main" val="5315614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32CD09-5996-415A-88CC-3BAAE9174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19" y="688104"/>
            <a:ext cx="8085036" cy="333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471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Baseline CNN (10-Class) Architecture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1FBAE79-D0D4-49E9-AE74-BF79E8CC6542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474913" y="2077582"/>
            <a:ext cx="569944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Same architecture as before for fair 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Layers:</a:t>
            </a:r>
          </a:p>
          <a:p>
            <a:pPr lvl="5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Conv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ReLU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MaxPool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ind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Conv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ReLU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MaxPool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ind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Dense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ReLU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Softmax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ind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No hyperparameter tuning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Training stability significantly improved with fewer classes</a:t>
            </a:r>
          </a:p>
        </p:txBody>
      </p:sp>
    </p:spTree>
    <p:extLst>
      <p:ext uri="{BB962C8B-B14F-4D97-AF65-F5344CB8AC3E}">
        <p14:creationId xmlns:p14="http://schemas.microsoft.com/office/powerpoint/2010/main" val="4174817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Baseline CNN Performance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CF9BC-2456-4319-92AA-1A1906A0C747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474913" y="1499861"/>
            <a:ext cx="652554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Final validation accuracy: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~74%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ind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Reduced oscillations in loss curve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Misclassification drastically lowered for visually similar categories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Strong </a:t>
            </a:r>
            <a:r>
              <a:rPr lang="en-US" sz="1800" dirty="0"/>
              <a:t>baseline reference for evolutionary and stochastic optimization methods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in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BF7660-C887-4C06-A3CB-851230E90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851" y="3020265"/>
            <a:ext cx="3226226" cy="20270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D1D353-5D1B-4BB4-A1A4-F3AE7308C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735" y="2982537"/>
            <a:ext cx="2584307" cy="205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7547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55821F-EDC2-44AE-8DBB-94D008F53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10" y="130939"/>
            <a:ext cx="5512780" cy="488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98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ES(1+1)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Overview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3813C-C971-4770-9310-846DD93DAB26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474913" y="1994481"/>
            <a:ext cx="4760278" cy="219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Hind"/>
              </a:rPr>
              <a:t>·  ES(1+1) used for </a:t>
            </a:r>
            <a:r>
              <a:rPr lang="en-US" sz="1800" b="1" dirty="0">
                <a:latin typeface="Hind"/>
              </a:rPr>
              <a:t>hyperparameter optimization</a:t>
            </a:r>
            <a:endParaRPr lang="en-US" sz="1800" dirty="0">
              <a:latin typeface="Hind"/>
            </a:endParaRPr>
          </a:p>
          <a:p>
            <a:r>
              <a:rPr lang="en-US" sz="1800" dirty="0">
                <a:latin typeface="Hind"/>
              </a:rPr>
              <a:t>·  CNN weights trained via backpropagation</a:t>
            </a:r>
          </a:p>
          <a:p>
            <a:r>
              <a:rPr lang="en-US" sz="1800" dirty="0">
                <a:latin typeface="Hind"/>
              </a:rPr>
              <a:t>·  ES adapts:</a:t>
            </a:r>
          </a:p>
          <a:p>
            <a:pPr marL="285750" lvl="8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Hind"/>
              </a:rPr>
              <a:t>Learning rate</a:t>
            </a:r>
          </a:p>
          <a:p>
            <a:pPr marL="285750" lvl="8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Hind"/>
              </a:rPr>
              <a:t>Dropout</a:t>
            </a:r>
          </a:p>
          <a:p>
            <a:pPr marL="285750" lvl="8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Hind"/>
              </a:rPr>
              <a:t>Augmentation parameters</a:t>
            </a:r>
          </a:p>
          <a:p>
            <a:r>
              <a:rPr lang="en-US" sz="1800" dirty="0">
                <a:latin typeface="Hind"/>
              </a:rPr>
              <a:t>· Acts as a lightweight evolutionary optimizer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Hind"/>
              </a:rPr>
              <a:t>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Same CNN architecture — only weights evolved</a:t>
            </a:r>
          </a:p>
        </p:txBody>
      </p:sp>
    </p:spTree>
    <p:extLst>
      <p:ext uri="{BB962C8B-B14F-4D97-AF65-F5344CB8AC3E}">
        <p14:creationId xmlns:p14="http://schemas.microsoft.com/office/powerpoint/2010/main" val="13825235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2199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ES(1+1)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Results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C1CB2C0-EACF-4A96-A86E-3CA04AD1E4A1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452430" y="1148562"/>
            <a:ext cx="645765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Hind"/>
              </a:rPr>
              <a:t>ES(1+1) provided consistent improvements over baseline”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Hind"/>
              </a:rPr>
              <a:t>Step-size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plot shows adaptive convergence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Loss curve decreases smoothly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Confirms ES is highly effective for small/medium models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sz="1800" dirty="0"/>
              <a:t>Served as a lightweight reference compared to population-based methods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in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A37BDE-ACAE-4166-BF08-FF77BB80F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2" y="2838540"/>
            <a:ext cx="3663708" cy="21967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E56B4E-3461-43AB-8225-33BFA58F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282" y="2838540"/>
            <a:ext cx="3132463" cy="219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840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5E5453-ACC8-4ADC-8D4A-4C4C99C68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456" y="38147"/>
            <a:ext cx="5527087" cy="506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011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CMA-ES (Covariance Matrix Adaptation Evolution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Strategy</a:t>
            </a: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)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3813C-C971-4770-9310-846DD93DAB26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474913" y="1675935"/>
            <a:ext cx="4760278" cy="2834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Hind"/>
              </a:rPr>
              <a:t>Population-based evolutionary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Hind"/>
              </a:rPr>
              <a:t>Designed for continuous hyperparameter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Hind"/>
              </a:rPr>
              <a:t>Maintains a multivariate Gaussian search distribution</a:t>
            </a:r>
          </a:p>
          <a:p>
            <a:r>
              <a:rPr lang="en-US" sz="1800" dirty="0">
                <a:latin typeface="Hind"/>
              </a:rPr>
              <a:t>Adapts: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Hind"/>
              </a:rPr>
              <a:t>Mean of the distribution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Hind"/>
              </a:rPr>
              <a:t>Covariance to capture parameter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Hind"/>
              </a:rPr>
              <a:t>More expressive than ES(1+1)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Hind"/>
              </a:rPr>
              <a:t>Higher computational cost</a:t>
            </a:r>
          </a:p>
        </p:txBody>
      </p:sp>
    </p:spTree>
    <p:extLst>
      <p:ext uri="{BB962C8B-B14F-4D97-AF65-F5344CB8AC3E}">
        <p14:creationId xmlns:p14="http://schemas.microsoft.com/office/powerpoint/2010/main" val="28590086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2199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CMA-ES –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Integration</a:t>
            </a: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 &amp; Observations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C1CB2C0-EACF-4A96-A86E-3CA04AD1E4A1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542806" y="1264063"/>
            <a:ext cx="645765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Hind"/>
              </a:rPr>
              <a:t>Applied for hyperparameter optimization (not weights)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Hind"/>
              </a:rPr>
              <a:t>CNN weights trained via backpropagation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Hind"/>
              </a:rPr>
              <a:t>Optimized parameters: Learning rate, Dropout rate, Data augmentation strength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Hind"/>
              </a:rPr>
              <a:t>More stable convergence than ES(1+1)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Hind"/>
              </a:rPr>
              <a:t>Slower but richer search compared to Random Search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Hind"/>
              </a:rPr>
              <a:t>Useful for later-stage optimization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in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798D44-AA90-497C-8646-296B06F33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0" y="3245802"/>
            <a:ext cx="3435350" cy="14422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769E10-8A47-4816-B093-6422664E75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05"/>
          <a:stretch/>
        </p:blipFill>
        <p:spPr>
          <a:xfrm>
            <a:off x="4705350" y="3222742"/>
            <a:ext cx="3644900" cy="148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820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A90A0C-1A61-4210-8E32-E2EEF5D86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923" y="0"/>
            <a:ext cx="586215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041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Random</a:t>
            </a: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Search</a:t>
            </a: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 –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Hyperparameter</a:t>
            </a: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Optimization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3813C-C971-4770-9310-846DD93DAB26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474913" y="2049883"/>
            <a:ext cx="4760278" cy="208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Hind"/>
              </a:rPr>
              <a:t>Simple stochastic hyperparameter optimization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Hind"/>
              </a:rPr>
              <a:t>Samples configurations uniformly at random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Hind"/>
              </a:rPr>
              <a:t>No adaptation or learning from past evaluations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Hind"/>
              </a:rPr>
              <a:t>Effective baseline for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Hind"/>
              </a:rPr>
              <a:t>Easy to implement and parallelize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Hind"/>
              </a:rPr>
              <a:t>Computationally inexpensive</a:t>
            </a:r>
          </a:p>
        </p:txBody>
      </p:sp>
    </p:spTree>
    <p:extLst>
      <p:ext uri="{BB962C8B-B14F-4D97-AF65-F5344CB8AC3E}">
        <p14:creationId xmlns:p14="http://schemas.microsoft.com/office/powerpoint/2010/main" val="3384304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2199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CMA-ES –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Integration</a:t>
            </a: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 &amp; Observations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A31ED82-C821-4337-A20D-F140261D5165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440785" y="1252279"/>
            <a:ext cx="761047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Applied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hyperparameter optimization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ind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CNN weights trained via backpropagation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Parameters explored: Learning rate, Dropout rate, Data augmentation strength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Fast initial exploration of search space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Does not capture parameter dependencies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Used as a baseline against ES and CMA-ES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0E5A75-8C85-4F6C-BB21-3935A5517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0" y="3006605"/>
            <a:ext cx="3644900" cy="180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688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405E6A-50D5-4AF1-BBEA-0F274EF30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923" y="0"/>
            <a:ext cx="586215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105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dirty="0" err="1"/>
              <a:t>Keras</a:t>
            </a:r>
            <a:r>
              <a:rPr lang="en-US" sz="2800" dirty="0"/>
              <a:t> Tuner Hyperparameter Search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88B40-D78E-4317-834A-DDC681320986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453648" y="1793496"/>
            <a:ext cx="552785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Explored architecture-level HPO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Search space included:</a:t>
            </a:r>
          </a:p>
          <a:p>
            <a:pPr lvl="1" eaLnBrk="0" fontAlgn="base" hangingPunct="0"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Filters, dense units</a:t>
            </a:r>
          </a:p>
          <a:p>
            <a:pPr lvl="1" eaLnBrk="0" fontAlgn="base" hangingPunct="0"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Learning rate, batch size</a:t>
            </a:r>
          </a:p>
          <a:p>
            <a:pPr lvl="1" eaLnBrk="0" fontAlgn="base" hangingPunct="0"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Dropout configurations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Ran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170 trials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 total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Each trial fully trained a unique model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sz="1800" dirty="0" err="1">
                <a:latin typeface="Hind"/>
              </a:rPr>
              <a:t>Keras</a:t>
            </a:r>
            <a:r>
              <a:rPr lang="en-US" sz="1800" dirty="0">
                <a:latin typeface="Hind"/>
              </a:rPr>
              <a:t> Tuner used as a structured, non-evolutionary comparison baseline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ind"/>
            </a:endParaRPr>
          </a:p>
        </p:txBody>
      </p:sp>
    </p:spTree>
    <p:extLst>
      <p:ext uri="{BB962C8B-B14F-4D97-AF65-F5344CB8AC3E}">
        <p14:creationId xmlns:p14="http://schemas.microsoft.com/office/powerpoint/2010/main" val="35993350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08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Keras</a:t>
            </a: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 Tuner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Hyperparameter</a:t>
            </a: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Search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CF9BC-2456-4319-92AA-1A1906A0C747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467825" y="1219200"/>
            <a:ext cx="5594930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Hind"/>
              </a:rPr>
              <a:t>Identified several promising architectures</a:t>
            </a:r>
          </a:p>
          <a:p>
            <a:r>
              <a:rPr lang="en-US" sz="1800" dirty="0">
                <a:latin typeface="Hind"/>
              </a:rPr>
              <a:t>However: </a:t>
            </a:r>
            <a:r>
              <a:rPr lang="en-US" sz="1800" b="1" dirty="0">
                <a:latin typeface="Hind"/>
              </a:rPr>
              <a:t>KT did not outperform ES(1+1) in your run</a:t>
            </a:r>
            <a:endParaRPr lang="en-US" sz="1800" dirty="0">
              <a:latin typeface="Hind"/>
            </a:endParaRPr>
          </a:p>
          <a:p>
            <a:r>
              <a:rPr lang="en-US" sz="1800" dirty="0">
                <a:latin typeface="Hind"/>
              </a:rPr>
              <a:t>Significantly higher compute cost due to deep exploration</a:t>
            </a:r>
          </a:p>
          <a:p>
            <a:r>
              <a:rPr lang="en-US" sz="1800" dirty="0">
                <a:latin typeface="Hind"/>
              </a:rPr>
              <a:t>Highlights contrast: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Hind"/>
              </a:rPr>
              <a:t>ES</a:t>
            </a:r>
            <a:r>
              <a:rPr lang="en-US" dirty="0">
                <a:solidFill>
                  <a:schemeClr val="tx1"/>
                </a:solidFill>
                <a:latin typeface="Hind"/>
              </a:rPr>
              <a:t> → weight-level optimization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Hind"/>
              </a:rPr>
              <a:t>KT</a:t>
            </a:r>
            <a:r>
              <a:rPr lang="en-US" dirty="0">
                <a:solidFill>
                  <a:schemeClr val="tx1"/>
                </a:solidFill>
                <a:latin typeface="Hind"/>
              </a:rPr>
              <a:t> → architecture-level optimization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1210D8-BCA1-421C-8EF0-B5173A86A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05" y="2894087"/>
            <a:ext cx="4390117" cy="21154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E47DC5-ACE5-4127-BECD-079071D7C0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189"/>
          <a:stretch/>
        </p:blipFill>
        <p:spPr>
          <a:xfrm>
            <a:off x="5053177" y="3238831"/>
            <a:ext cx="3403252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566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AD5758-16FD-4B83-B5DF-3AF199A5B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427" y="113298"/>
            <a:ext cx="5363145" cy="491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5732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36252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</a:rPr>
              <a:t>DEAP (Distributed Evolutionary Algorithms in Python)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6F609D-B238-4E50-87B4-2D05003604DD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474913" y="1939082"/>
            <a:ext cx="502586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Python framework for evolutionary algorithms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Supports population-based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Enables genetic algorithms with: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Selection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Crossover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Mutation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More flexible than single-trajectory ES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Designed for customizable evolutionary workflows</a:t>
            </a:r>
          </a:p>
        </p:txBody>
      </p:sp>
    </p:spTree>
    <p:extLst>
      <p:ext uri="{BB962C8B-B14F-4D97-AF65-F5344CB8AC3E}">
        <p14:creationId xmlns:p14="http://schemas.microsoft.com/office/powerpoint/2010/main" val="31470456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2199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DEAP –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Integration</a:t>
            </a: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 &amp; Observations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A31ED82-C821-4337-A20D-F140261D5165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440785" y="1252280"/>
            <a:ext cx="761047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Hind"/>
              </a:rPr>
              <a:t>Applied for population-based hyperparameter optimization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Hind"/>
              </a:rPr>
              <a:t>CNN weights trained via backpropagation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Hind"/>
              </a:rPr>
              <a:t>DEAP evolves: Learning rate, Dropout rate, Data augmentation strength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Hind"/>
              </a:rPr>
              <a:t>Population-level exploration with crossover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Hind"/>
              </a:rPr>
              <a:t>Higher compute cost than ES(1+1)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Hind"/>
              </a:rPr>
              <a:t>Enables comparison with ES and CMA-ES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40D827-EBAE-4384-B57E-4651266B6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3006606"/>
            <a:ext cx="6819900" cy="208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624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43024D-D123-4D34-A3D6-A73F9AAAB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47" y="0"/>
            <a:ext cx="561030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209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>
            <a:extLst>
              <a:ext uri="{FF2B5EF4-FFF2-40B4-BE49-F238E27FC236}">
                <a16:creationId xmlns:a16="http://schemas.microsoft.com/office/drawing/2014/main" id="{2A8F45B6-49F4-4894-884B-4A4785BA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08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Model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Comparison</a:t>
            </a:r>
            <a:r>
              <a:rPr lang="fr-FR" sz="2600" b="1" dirty="0">
                <a:solidFill>
                  <a:schemeClr val="dk1"/>
                </a:solidFill>
                <a:latin typeface="Space Grotesk"/>
              </a:rPr>
              <a:t> </a:t>
            </a:r>
            <a:r>
              <a:rPr lang="fr-FR" sz="2600" b="1" dirty="0" err="1">
                <a:solidFill>
                  <a:schemeClr val="dk1"/>
                </a:solidFill>
                <a:latin typeface="Space Grotesk"/>
              </a:rPr>
              <a:t>Summary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521D59-DDF8-4FCC-8715-FBBD56447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554629"/>
              </p:ext>
            </p:extLst>
          </p:nvPr>
        </p:nvGraphicFramePr>
        <p:xfrm>
          <a:off x="554517" y="1219200"/>
          <a:ext cx="7704114" cy="3503467"/>
        </p:xfrm>
        <a:graphic>
          <a:graphicData uri="http://schemas.openxmlformats.org/drawingml/2006/table">
            <a:tbl>
              <a:tblPr/>
              <a:tblGrid>
                <a:gridCol w="1284019">
                  <a:extLst>
                    <a:ext uri="{9D8B030D-6E8A-4147-A177-3AD203B41FA5}">
                      <a16:colId xmlns:a16="http://schemas.microsoft.com/office/drawing/2014/main" val="4215463946"/>
                    </a:ext>
                  </a:extLst>
                </a:gridCol>
                <a:gridCol w="1284019">
                  <a:extLst>
                    <a:ext uri="{9D8B030D-6E8A-4147-A177-3AD203B41FA5}">
                      <a16:colId xmlns:a16="http://schemas.microsoft.com/office/drawing/2014/main" val="3657829638"/>
                    </a:ext>
                  </a:extLst>
                </a:gridCol>
                <a:gridCol w="1284019">
                  <a:extLst>
                    <a:ext uri="{9D8B030D-6E8A-4147-A177-3AD203B41FA5}">
                      <a16:colId xmlns:a16="http://schemas.microsoft.com/office/drawing/2014/main" val="644493968"/>
                    </a:ext>
                  </a:extLst>
                </a:gridCol>
                <a:gridCol w="1284019">
                  <a:extLst>
                    <a:ext uri="{9D8B030D-6E8A-4147-A177-3AD203B41FA5}">
                      <a16:colId xmlns:a16="http://schemas.microsoft.com/office/drawing/2014/main" val="1121772872"/>
                    </a:ext>
                  </a:extLst>
                </a:gridCol>
                <a:gridCol w="1284019">
                  <a:extLst>
                    <a:ext uri="{9D8B030D-6E8A-4147-A177-3AD203B41FA5}">
                      <a16:colId xmlns:a16="http://schemas.microsoft.com/office/drawing/2014/main" val="163637759"/>
                    </a:ext>
                  </a:extLst>
                </a:gridCol>
                <a:gridCol w="1284019">
                  <a:extLst>
                    <a:ext uri="{9D8B030D-6E8A-4147-A177-3AD203B41FA5}">
                      <a16:colId xmlns:a16="http://schemas.microsoft.com/office/drawing/2014/main" val="2676699586"/>
                    </a:ext>
                  </a:extLst>
                </a:gridCol>
              </a:tblGrid>
              <a:tr h="393619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Method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Val Acc (%)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Test Acc (%)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200" b="1" dirty="0">
                          <a:latin typeface="+mj-lt"/>
                        </a:rPr>
                        <a:t>Δ </a:t>
                      </a:r>
                      <a:r>
                        <a:rPr lang="en-US" sz="1200" b="1" dirty="0">
                          <a:latin typeface="+mj-lt"/>
                        </a:rPr>
                        <a:t>vs Baseline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Macro F1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Notes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153313"/>
                  </a:ext>
                </a:extLst>
              </a:tr>
              <a:tr h="393619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Baseline CNN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72.33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72.47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j-lt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j-lt"/>
                        </a:rPr>
                        <a:t>0.72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Untuned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09203"/>
                  </a:ext>
                </a:extLst>
              </a:tr>
              <a:tr h="393619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ES(1+1)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75.13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79.80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+7.33%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j-lt"/>
                        </a:rPr>
                        <a:t>0.80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Best overall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215458"/>
                  </a:ext>
                </a:extLst>
              </a:tr>
              <a:tr h="564757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CMA-ES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77.07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77.13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j-lt"/>
                        </a:rPr>
                        <a:t>+4.66%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j-lt"/>
                        </a:rPr>
                        <a:t>0.77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Good global search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714964"/>
                  </a:ext>
                </a:extLst>
              </a:tr>
              <a:tr h="393619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Random Search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77.00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77.93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j-lt"/>
                        </a:rPr>
                        <a:t>+5.46%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j-lt"/>
                        </a:rPr>
                        <a:t>0.78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High variance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249277"/>
                  </a:ext>
                </a:extLst>
              </a:tr>
              <a:tr h="735896"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+mj-lt"/>
                        </a:rPr>
                        <a:t>Keras</a:t>
                      </a:r>
                      <a:r>
                        <a:rPr lang="en-US" sz="1200" b="1" dirty="0">
                          <a:latin typeface="+mj-lt"/>
                        </a:rPr>
                        <a:t> Tuner (Hyperband)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77.47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79.27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j-lt"/>
                        </a:rPr>
                        <a:t>+6.80%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j-lt"/>
                        </a:rPr>
                        <a:t>0.79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Best structured HPO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38670"/>
                  </a:ext>
                </a:extLst>
              </a:tr>
              <a:tr h="564757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DEAP (μ=5, λ=10)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77.33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79.33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+6.86%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0.79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Strong ES method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7088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9216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08375F-B530-4114-976E-851A89ABB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960" y="0"/>
            <a:ext cx="65160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407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A0116D-B7BC-4637-B0F9-E136CB238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321" y="0"/>
            <a:ext cx="697735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271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A2FBA8-9C27-4595-8CAE-C8A80A332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82" y="1055402"/>
            <a:ext cx="8190636" cy="303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902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>
            <a:extLst>
              <a:ext uri="{FF2B5EF4-FFF2-40B4-BE49-F238E27FC236}">
                <a16:creationId xmlns:a16="http://schemas.microsoft.com/office/drawing/2014/main" id="{2A8F45B6-49F4-4894-884B-4A4785BA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08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</a:rPr>
              <a:t>Inference: Testing Saved Model on Real Images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331048-FB4D-4F59-A456-0F75F07851A1}"/>
              </a:ext>
            </a:extLst>
          </p:cNvPr>
          <p:cNvSpPr/>
          <p:nvPr/>
        </p:nvSpPr>
        <p:spPr>
          <a:xfrm>
            <a:off x="1896140" y="257175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>
              <a:latin typeface="Hind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71D37A-5A99-493D-ADE1-4EBC917B2710}"/>
              </a:ext>
            </a:extLst>
          </p:cNvPr>
          <p:cNvSpPr/>
          <p:nvPr/>
        </p:nvSpPr>
        <p:spPr>
          <a:xfrm>
            <a:off x="1717158" y="1219200"/>
            <a:ext cx="659041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ind"/>
              </a:rPr>
              <a:t>Implemented an independent inference cell to test trained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ind"/>
              </a:rPr>
              <a:t>Loads the saved best model from Drive: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Hind"/>
              </a:rPr>
              <a:t>optimized_model_best.keras</a:t>
            </a:r>
            <a:r>
              <a:rPr lang="en-US" sz="1600" dirty="0">
                <a:latin typeface="Hind"/>
              </a:rPr>
              <a:t> (ES(1+1) or </a:t>
            </a:r>
            <a:r>
              <a:rPr lang="en-US" sz="1600" dirty="0" err="1">
                <a:latin typeface="Hind"/>
              </a:rPr>
              <a:t>Keras</a:t>
            </a:r>
            <a:r>
              <a:rPr lang="en-US" sz="1600" dirty="0">
                <a:latin typeface="Hind"/>
              </a:rPr>
              <a:t> Tuner)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ind"/>
              </a:rPr>
              <a:t>Loads class indices from </a:t>
            </a:r>
            <a:r>
              <a:rPr lang="en-US" sz="1600" dirty="0" err="1">
                <a:latin typeface="Hind"/>
              </a:rPr>
              <a:t>class_indices.json</a:t>
            </a:r>
            <a:r>
              <a:rPr lang="en-US" sz="1600" dirty="0">
                <a:latin typeface="Hind"/>
              </a:rPr>
              <a:t> and reconstructs the 10-class label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ind"/>
              </a:rPr>
              <a:t>Given an image URL, the pipeline: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ind"/>
              </a:rPr>
              <a:t>Downloads the image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ind"/>
              </a:rPr>
              <a:t>Resizes to 224×224, normalizes to [0, 1]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ind"/>
              </a:rPr>
              <a:t>Runs </a:t>
            </a:r>
            <a:r>
              <a:rPr lang="en-US" sz="1600" dirty="0" err="1">
                <a:latin typeface="Hind"/>
              </a:rPr>
              <a:t>model.predict</a:t>
            </a:r>
            <a:r>
              <a:rPr lang="en-US" sz="1600" dirty="0">
                <a:latin typeface="Hind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ind"/>
              </a:rPr>
              <a:t>Extracts Top-5 predicted classes and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ind"/>
              </a:rPr>
              <a:t>Visual output: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ind"/>
              </a:rPr>
              <a:t>Left: input food image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ind"/>
              </a:rPr>
              <a:t>Right: Top-5 prediction bar chart with a 60% confidence threshold line</a:t>
            </a:r>
          </a:p>
        </p:txBody>
      </p:sp>
    </p:spTree>
    <p:extLst>
      <p:ext uri="{BB962C8B-B14F-4D97-AF65-F5344CB8AC3E}">
        <p14:creationId xmlns:p14="http://schemas.microsoft.com/office/powerpoint/2010/main" val="18419496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D09A16-79BD-453F-A209-9F95C5CBC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23" y="102182"/>
            <a:ext cx="8257953" cy="22968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A817CC-33AF-448E-BBE3-943BD06F7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092" y="2512391"/>
            <a:ext cx="6361815" cy="244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688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>
            <a:extLst>
              <a:ext uri="{FF2B5EF4-FFF2-40B4-BE49-F238E27FC236}">
                <a16:creationId xmlns:a16="http://schemas.microsoft.com/office/drawing/2014/main" id="{2A8F45B6-49F4-4894-884B-4A4785BA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58855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</a:rPr>
              <a:t>Final Observations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331048-FB4D-4F59-A456-0F75F07851A1}"/>
              </a:ext>
            </a:extLst>
          </p:cNvPr>
          <p:cNvSpPr/>
          <p:nvPr/>
        </p:nvSpPr>
        <p:spPr>
          <a:xfrm>
            <a:off x="1896140" y="257175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>
              <a:latin typeface="Hind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97BC246E-0761-41C6-874D-5C5D3EA0C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786920"/>
            <a:ext cx="711399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Baseline CNN performance limited by label complexity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Reducing class count improved training stability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Random Search provided a fast exploration baseline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ES(1+1) enabled efficient low-cost hyperparameter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CMA-ES showed more stable convergence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DEAP enabled population-level exploration using crossover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Different optimization methods trade off performance and compute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No single method dominates across all scenarios</a:t>
            </a:r>
          </a:p>
        </p:txBody>
      </p:sp>
    </p:spTree>
    <p:extLst>
      <p:ext uri="{BB962C8B-B14F-4D97-AF65-F5344CB8AC3E}">
        <p14:creationId xmlns:p14="http://schemas.microsoft.com/office/powerpoint/2010/main" val="15266074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>
            <a:extLst>
              <a:ext uri="{FF2B5EF4-FFF2-40B4-BE49-F238E27FC236}">
                <a16:creationId xmlns:a16="http://schemas.microsoft.com/office/drawing/2014/main" id="{2A8F45B6-49F4-4894-884B-4A4785BA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40" y="133920"/>
            <a:ext cx="7495920" cy="108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>
                <a:solidFill>
                  <a:schemeClr val="dk1"/>
                </a:solidFill>
                <a:latin typeface="Space Grotesk"/>
              </a:rPr>
              <a:t>Next Steps (Extra Credit + Future Work)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331048-FB4D-4F59-A456-0F75F07851A1}"/>
              </a:ext>
            </a:extLst>
          </p:cNvPr>
          <p:cNvSpPr/>
          <p:nvPr/>
        </p:nvSpPr>
        <p:spPr>
          <a:xfrm>
            <a:off x="1896140" y="257175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>
              <a:latin typeface="Hind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DC755D-077B-4CB0-BABD-C34A3486D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850" y="1223928"/>
            <a:ext cx="652409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Refine comparison across optimization methods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Random Search vs ES(1+1) vs CMA-ES vs DEAP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Focus on: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Convergence speed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Stability across runs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Compute cost vs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Model-level enhancements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Experiment with deeper CNN architectures on 10-class subset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Evaluate impact of batch normalization and dropout schedules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Optimization scope expansion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Joint tuning of data augmentation and regularization parameters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Investigate hybrid strategies (e.g., ES initialization + DEAP refinement)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Evaluation improvements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Run multiple seeds for robustness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/>
              </a:rPr>
              <a:t>Report variance across evolutionary runs</a:t>
            </a:r>
          </a:p>
        </p:txBody>
      </p:sp>
    </p:spTree>
    <p:extLst>
      <p:ext uri="{BB962C8B-B14F-4D97-AF65-F5344CB8AC3E}">
        <p14:creationId xmlns:p14="http://schemas.microsoft.com/office/powerpoint/2010/main" val="2120050915"/>
      </p:ext>
    </p:extLst>
  </p:cSld>
  <p:clrMapOvr>
    <a:masterClrMapping/>
  </p:clrMapOvr>
</p:sld>
</file>

<file path=ppt/theme/theme1.xml><?xml version="1.0" encoding="utf-8"?>
<a:theme xmlns:a="http://schemas.openxmlformats.org/drawingml/2006/main" name="Dark Theme by Slidesgo">
  <a:themeElements>
    <a:clrScheme name="Simple Light">
      <a:dk1>
        <a:srgbClr val="FFFFFF"/>
      </a:dk1>
      <a:lt1>
        <a:srgbClr val="0D0D0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</TotalTime>
  <Words>3167</Words>
  <Application>Microsoft Office PowerPoint</Application>
  <PresentationFormat>On-screen Show (16:9)</PresentationFormat>
  <Paragraphs>586</Paragraphs>
  <Slides>59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70" baseType="lpstr">
      <vt:lpstr>Arial</vt:lpstr>
      <vt:lpstr>Calibri</vt:lpstr>
      <vt:lpstr>Cascadia Code</vt:lpstr>
      <vt:lpstr>Cascadia Code Light</vt:lpstr>
      <vt:lpstr>Hind</vt:lpstr>
      <vt:lpstr>OpenSymbol</vt:lpstr>
      <vt:lpstr>Space Grotesk</vt:lpstr>
      <vt:lpstr>Symbol</vt:lpstr>
      <vt:lpstr>Wingdings</vt:lpstr>
      <vt:lpstr>Dark Theme by Slidesgo</vt:lpstr>
      <vt:lpstr>Slidesgo Final Pages</vt:lpstr>
      <vt:lpstr>Deep Food Image Classifier with ES(1+1)</vt:lpstr>
      <vt:lpstr>Project Goals &amp; Description</vt:lpstr>
      <vt:lpstr>Food dataset and preprocessing</vt:lpstr>
      <vt:lpstr>PowerPoint Presentation</vt:lpstr>
      <vt:lpstr>Baseline Model Design</vt:lpstr>
      <vt:lpstr>Baseline results and challenges</vt:lpstr>
      <vt:lpstr>output</vt:lpstr>
      <vt:lpstr>output</vt:lpstr>
      <vt:lpstr>output</vt:lpstr>
      <vt:lpstr>Next Steps and Outlook</vt:lpstr>
      <vt:lpstr>WSL2 GPU Training Setup &amp; Troubleshooting</vt:lpstr>
      <vt:lpstr>Project Overview</vt:lpstr>
      <vt:lpstr>Project Overview</vt:lpstr>
      <vt:lpstr>Project Overview</vt:lpstr>
      <vt:lpstr>EVOLUTIONARY STRATEGY (1+1) OPTIMIZATION LOOP</vt:lpstr>
      <vt:lpstr>EVOLUTIONARY STRATEGY (1+1) OPTIMIZATION LOOP</vt:lpstr>
      <vt:lpstr>Conclusions</vt:lpstr>
      <vt:lpstr>Project Update</vt:lpstr>
      <vt:lpstr>PROBLEM RECAP &amp; PREVIOUS ISSUES</vt:lpstr>
      <vt:lpstr>IMPROVED BASELINE ARCHITECTURE &amp; TRAINING OPTIMIZATIONS</vt:lpstr>
      <vt:lpstr>BASELINE RESULTS - MAJOR IMPROVEMENT</vt:lpstr>
      <vt:lpstr>PowerPoint Presentation</vt:lpstr>
      <vt:lpstr>PowerPoint Presentation</vt:lpstr>
      <vt:lpstr>ES(1+1) HYPERPARAMETER OPTIMIZATION</vt:lpstr>
      <vt:lpstr>ES(1+1) OPTIMIZATION PROCESS</vt:lpstr>
      <vt:lpstr>ES OPTIMIZATION RESULTS</vt:lpstr>
      <vt:lpstr>PowerPoint Presentation</vt:lpstr>
      <vt:lpstr>FINAL MODEL PERFORMANCE</vt:lpstr>
      <vt:lpstr>PowerPoint Presentation</vt:lpstr>
      <vt:lpstr> CONCLUSIONS &amp; FUTURE WORK</vt:lpstr>
      <vt:lpstr>Project Update - Final</vt:lpstr>
      <vt:lpstr>Dataset Modification (25 → 10 Classes)</vt:lpstr>
      <vt:lpstr>PowerPoint Presentation</vt:lpstr>
      <vt:lpstr>Baseline CNN (10-Class) Architecture</vt:lpstr>
      <vt:lpstr>Baseline CNN Performance</vt:lpstr>
      <vt:lpstr>PowerPoint Presentation</vt:lpstr>
      <vt:lpstr>ES(1+1) Overview</vt:lpstr>
      <vt:lpstr>ES(1+1) Results</vt:lpstr>
      <vt:lpstr>PowerPoint Presentation</vt:lpstr>
      <vt:lpstr>CMA-ES (Covariance Matrix Adaptation Evolution Strategy)</vt:lpstr>
      <vt:lpstr>CMA-ES – Integration &amp; Observations</vt:lpstr>
      <vt:lpstr>PowerPoint Presentation</vt:lpstr>
      <vt:lpstr>Random Search – Hyperparameter Optimization</vt:lpstr>
      <vt:lpstr>CMA-ES – Integration &amp; Observations</vt:lpstr>
      <vt:lpstr>PowerPoint Presentation</vt:lpstr>
      <vt:lpstr>Keras Tuner Hyperparameter Search</vt:lpstr>
      <vt:lpstr>Keras Tuner Hyperparameter Search</vt:lpstr>
      <vt:lpstr>PowerPoint Presentation</vt:lpstr>
      <vt:lpstr>DEAP (Distributed Evolutionary Algorithms in Python)</vt:lpstr>
      <vt:lpstr>DEAP – Integration &amp; Observations</vt:lpstr>
      <vt:lpstr>PowerPoint Presentation</vt:lpstr>
      <vt:lpstr>Model Comparison Summary</vt:lpstr>
      <vt:lpstr>PowerPoint Presentation</vt:lpstr>
      <vt:lpstr>PowerPoint Presentation</vt:lpstr>
      <vt:lpstr>PowerPoint Presentation</vt:lpstr>
      <vt:lpstr>Inference: Testing Saved Model on Real Images</vt:lpstr>
      <vt:lpstr>PowerPoint Presentation</vt:lpstr>
      <vt:lpstr>Final Observations</vt:lpstr>
      <vt:lpstr>Next Steps (Extra Credit + Future Work)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Food Image Classifier with ES(1+1)</dc:title>
  <dc:creator>harsha vardhan naidu</dc:creator>
  <cp:lastModifiedBy>harsha vardhan naidu</cp:lastModifiedBy>
  <cp:revision>24</cp:revision>
  <dcterms:modified xsi:type="dcterms:W3CDTF">2025-12-12T21:53:26Z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2025-11-10T22:09:23Z</dcterms:created>
  <dc:creator>Unknown Creator</dc:creator>
  <dc:description/>
  <dc:language>en-US</dc:language>
  <cp:lastModifiedBy>Unknown Creator</cp:lastModifiedBy>
  <dcterms:modified xsi:type="dcterms:W3CDTF">2025-11-10T22:09:23Z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13</vt:r8>
  </property>
</Properties>
</file>