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8" r:id="rId2"/>
  </p:sldMasterIdLst>
  <p:notesMasterIdLst>
    <p:notesMasterId r:id="rId51"/>
  </p:notesMasterIdLst>
  <p:sldIdLst>
    <p:sldId id="256" r:id="rId3"/>
    <p:sldId id="260" r:id="rId4"/>
    <p:sldId id="257" r:id="rId5"/>
    <p:sldId id="273" r:id="rId6"/>
    <p:sldId id="262" r:id="rId7"/>
    <p:sldId id="264" r:id="rId8"/>
    <p:sldId id="258" r:id="rId9"/>
    <p:sldId id="275" r:id="rId10"/>
    <p:sldId id="276" r:id="rId11"/>
    <p:sldId id="277" r:id="rId12"/>
    <p:sldId id="278" r:id="rId13"/>
    <p:sldId id="274" r:id="rId14"/>
    <p:sldId id="269" r:id="rId15"/>
    <p:sldId id="270" r:id="rId16"/>
    <p:sldId id="271" r:id="rId17"/>
    <p:sldId id="272" r:id="rId18"/>
    <p:sldId id="267" r:id="rId19"/>
    <p:sldId id="26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5" r:id="rId35"/>
    <p:sldId id="293" r:id="rId36"/>
    <p:sldId id="294" r:id="rId37"/>
    <p:sldId id="300" r:id="rId38"/>
    <p:sldId id="296" r:id="rId39"/>
    <p:sldId id="299" r:id="rId40"/>
    <p:sldId id="301" r:id="rId41"/>
    <p:sldId id="298" r:id="rId42"/>
    <p:sldId id="297" r:id="rId43"/>
    <p:sldId id="302" r:id="rId44"/>
    <p:sldId id="303" r:id="rId45"/>
    <p:sldId id="304" r:id="rId46"/>
    <p:sldId id="305" r:id="rId47"/>
    <p:sldId id="306" r:id="rId48"/>
    <p:sldId id="307" r:id="rId49"/>
    <p:sldId id="308" r:id="rId5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5" d="100"/>
          <a:sy n="135" d="100"/>
        </p:scale>
        <p:origin x="92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58AE8A-6502-4C75-804D-865BB6614FD9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221F7C-93DD-4F44-9295-D127ECAB38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137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221F7C-93DD-4F44-9295-D127ECAB38A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21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28600" y="444240"/>
            <a:ext cx="7722720" cy="2430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7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28600" y="1313280"/>
            <a:ext cx="657576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7400" b="1" u="none" strike="noStrike">
                <a:solidFill>
                  <a:schemeClr val="accent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7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title"/>
          </p:nvPr>
        </p:nvSpPr>
        <p:spPr>
          <a:xfrm>
            <a:off x="228600" y="89604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title"/>
          </p:nvPr>
        </p:nvSpPr>
        <p:spPr>
          <a:xfrm>
            <a:off x="228600" y="228060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title"/>
          </p:nvPr>
        </p:nvSpPr>
        <p:spPr>
          <a:xfrm>
            <a:off x="2751840" y="89604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title"/>
          </p:nvPr>
        </p:nvSpPr>
        <p:spPr>
          <a:xfrm>
            <a:off x="2751840" y="228060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228600" y="366516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7"/>
          <p:cNvSpPr>
            <a:spLocks noGrp="1"/>
          </p:cNvSpPr>
          <p:nvPr>
            <p:ph type="title"/>
          </p:nvPr>
        </p:nvSpPr>
        <p:spPr>
          <a:xfrm>
            <a:off x="2751840" y="366516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8"/>
          <p:cNvSpPr>
            <a:spLocks noGrp="1"/>
          </p:cNvSpPr>
          <p:nvPr>
            <p:ph type="body"/>
          </p:nvPr>
        </p:nvSpPr>
        <p:spPr>
          <a:xfrm>
            <a:off x="5655240" y="896040"/>
            <a:ext cx="3259800" cy="40183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228600" y="888480"/>
            <a:ext cx="7495920" cy="1507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2760" cy="984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778280" y="228600"/>
            <a:ext cx="4137120" cy="46861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6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228600" y="891720"/>
            <a:ext cx="3602520" cy="402300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228600" y="669600"/>
            <a:ext cx="5617080" cy="12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7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9" name="Google Shape;86;p18"/>
          <p:cNvSpPr/>
          <p:nvPr/>
        </p:nvSpPr>
        <p:spPr>
          <a:xfrm>
            <a:off x="6732360" y="3519720"/>
            <a:ext cx="2182680" cy="79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r"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  <a:hlinkClick r:id="rId2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, and includes icons,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  <a:hlinkClick r:id="rId3"/>
              </a:rPr>
              <a:t>Freepik</a:t>
            </a:r>
            <a:r>
              <a:rPr lang="en" sz="1000" b="0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228600" y="766440"/>
            <a:ext cx="6203880" cy="2930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title"/>
          </p:nvPr>
        </p:nvSpPr>
        <p:spPr>
          <a:xfrm>
            <a:off x="7263360" y="803160"/>
            <a:ext cx="1651680" cy="1107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r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accent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0000" y="1215720"/>
            <a:ext cx="770364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228960" y="2807640"/>
            <a:ext cx="3693240" cy="18655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fontScale="77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47635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768680" y="1307160"/>
            <a:ext cx="5606640" cy="2529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2135520" y="1441800"/>
            <a:ext cx="4872600" cy="118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title"/>
          </p:nvPr>
        </p:nvSpPr>
        <p:spPr>
          <a:xfrm>
            <a:off x="720000" y="4014360"/>
            <a:ext cx="7703640" cy="57240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mple-light-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94;p23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97;p24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728640" y="539640"/>
            <a:ext cx="334728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title"/>
          </p:nvPr>
        </p:nvSpPr>
        <p:spPr>
          <a:xfrm>
            <a:off x="4977720" y="539640"/>
            <a:ext cx="345816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228600" y="447840"/>
            <a:ext cx="7724520" cy="2428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dirty="0">
                <a:latin typeface="Space Grotesk"/>
              </a:rPr>
              <a:t>Deep Food Image Classifier with ES(1+1)</a:t>
            </a:r>
            <a:endParaRPr lang="fr-FR" b="0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ubTitle"/>
          </p:nvPr>
        </p:nvSpPr>
        <p:spPr>
          <a:xfrm>
            <a:off x="2676600" y="3009960"/>
            <a:ext cx="6238440" cy="828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- Harsha Vardhan </a:t>
            </a:r>
            <a:r>
              <a:rPr lang="en-US" sz="1600" b="0" u="none" strike="noStrike" dirty="0" err="1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Yellela</a:t>
            </a:r>
            <a:endParaRPr lang="en-US" sz="16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cxnSp>
        <p:nvCxnSpPr>
          <p:cNvPr id="41" name="Google Shape;108;p25"/>
          <p:cNvCxnSpPr/>
          <p:nvPr/>
        </p:nvCxnSpPr>
        <p:spPr>
          <a:xfrm>
            <a:off x="114120" y="4451760"/>
            <a:ext cx="360" cy="7491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  <p:cxnSp>
        <p:nvCxnSpPr>
          <p:cNvPr id="42" name="Google Shape;109;p25"/>
          <p:cNvCxnSpPr/>
          <p:nvPr/>
        </p:nvCxnSpPr>
        <p:spPr>
          <a:xfrm>
            <a:off x="5219280" y="3838320"/>
            <a:ext cx="369648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71893" y="333067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Project Goals &amp; Description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2495606" y="2310103"/>
            <a:ext cx="6391080" cy="2198102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2500"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/>
              <a:t>Build a CNN-based classifier from scratch (no pretrained models).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/>
              <a:t>Target: 25 American food categories (burgers, pancakes, pizza, etc.).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/>
              <a:t>Architecture: 3 convolutional blocks + batch normalization + dropout.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/>
              <a:t>Optimize using Evolutionary Strategy (1+1) to evolve LR, batch size, depth.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/>
              <a:t>Final output detects if input is American food or outside scope.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fr-FR" sz="2600" dirty="0">
                <a:solidFill>
                  <a:schemeClr val="dk1"/>
                </a:solidFill>
                <a:latin typeface="Space Grotesk"/>
              </a:rPr>
              <a:t>Food </a:t>
            </a:r>
            <a:r>
              <a:rPr lang="fr-FR" sz="2600" dirty="0" err="1">
                <a:solidFill>
                  <a:schemeClr val="dk1"/>
                </a:solidFill>
                <a:latin typeface="Space Grotesk"/>
              </a:rPr>
              <a:t>dataset</a:t>
            </a:r>
            <a:r>
              <a:rPr lang="fr-FR" sz="2600" dirty="0">
                <a:solidFill>
                  <a:schemeClr val="dk1"/>
                </a:solidFill>
                <a:latin typeface="Space Grotesk"/>
              </a:rPr>
              <a:t> and </a:t>
            </a:r>
            <a:r>
              <a:rPr lang="fr-FR" sz="2600" dirty="0" err="1">
                <a:solidFill>
                  <a:schemeClr val="dk1"/>
                </a:solidFill>
                <a:latin typeface="Space Grotesk"/>
              </a:rPr>
              <a:t>preprocessing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185760" y="1333354"/>
            <a:ext cx="4352400" cy="2695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2000"/>
            </a:pPr>
            <a:r>
              <a:rPr lang="en-US" sz="1200" dirty="0"/>
              <a:t>Dataset size: ~10 GB, curated from Food-101 and other sources.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2000"/>
            </a:pPr>
            <a:r>
              <a:rPr lang="en-US" sz="1200" dirty="0"/>
              <a:t>Classes: 25 American foods (e.g., ribs, fries, waffles, cheesecake).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2000"/>
            </a:pPr>
            <a:r>
              <a:rPr lang="en-US" sz="1200" dirty="0"/>
              <a:t>Split: 70% Train | 15% Validation | 15% Test.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2000"/>
            </a:pPr>
            <a:r>
              <a:rPr lang="en-US" sz="1200" dirty="0"/>
              <a:t>Preprocessing: resize 224×224×3, normalize [0–1], augment flip/rotation.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2000"/>
            </a:pPr>
            <a:r>
              <a:rPr lang="en-US" sz="1200" dirty="0"/>
              <a:t>Implemented via TensorFlow </a:t>
            </a:r>
            <a:r>
              <a:rPr lang="en-US" sz="1200" dirty="0" err="1"/>
              <a:t>ImageDataGenerator</a:t>
            </a:r>
            <a:r>
              <a:rPr lang="en-US" sz="1200" dirty="0"/>
              <a:t> and </a:t>
            </a:r>
            <a:r>
              <a:rPr lang="en-US" sz="1200" dirty="0" err="1"/>
              <a:t>image_dataset_from_directory</a:t>
            </a:r>
            <a:r>
              <a:rPr lang="en-US" sz="120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  <a:defRPr sz="2000"/>
            </a:pPr>
            <a:endParaRPr lang="en-US" sz="1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857FE8-ECF1-494B-B08E-FB07680F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188" y="0"/>
            <a:ext cx="653296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97D148C-93CE-4565-8906-52C7D6F40D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246" y="821169"/>
            <a:ext cx="8219507" cy="3501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787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86070" y="212565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dirty="0">
                <a:solidFill>
                  <a:schemeClr val="dk1"/>
                </a:solidFill>
                <a:latin typeface="Space Grotesk"/>
                <a:ea typeface="Space Grotesk"/>
              </a:rPr>
              <a:t>Baseline Model Design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ubTitle"/>
          </p:nvPr>
        </p:nvSpPr>
        <p:spPr>
          <a:xfrm>
            <a:off x="2523960" y="2076893"/>
            <a:ext cx="6391080" cy="218046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CNN Architecture: 3 Conv Blocks (64→128→256 filters) + </a:t>
            </a:r>
            <a:r>
              <a:rPr lang="en-US" sz="1600" dirty="0" err="1">
                <a:solidFill>
                  <a:schemeClr val="dk1"/>
                </a:solidFill>
                <a:latin typeface="Hind"/>
                <a:ea typeface="Hind"/>
              </a:rPr>
              <a:t>MaxPooling</a:t>
            </a: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Dense layers: 512 </a:t>
            </a:r>
            <a:r>
              <a:rPr lang="en-US" sz="1600" dirty="0" err="1">
                <a:solidFill>
                  <a:schemeClr val="dk1"/>
                </a:solidFill>
                <a:latin typeface="Hind"/>
                <a:ea typeface="Hind"/>
              </a:rPr>
              <a:t>ReLU</a:t>
            </a: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 + Dropout(0.5) + </a:t>
            </a:r>
            <a:r>
              <a:rPr lang="en-US" sz="1600" dirty="0" err="1">
                <a:solidFill>
                  <a:schemeClr val="dk1"/>
                </a:solidFill>
                <a:latin typeface="Hind"/>
                <a:ea typeface="Hind"/>
              </a:rPr>
              <a:t>Softmax</a:t>
            </a: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(25).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≈7M parameters, trained from scratch.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Environment: Dual RTX 3090 GPUs, Adam(3e-4), batch 32, 10 epochs.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Pipeline optimized with caching and prefetch for GPU throughput.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71893" y="325979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Baseline results and challenges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ubTitle"/>
          </p:nvPr>
        </p:nvSpPr>
        <p:spPr>
          <a:xfrm>
            <a:off x="2523960" y="2083981"/>
            <a:ext cx="6391080" cy="217337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Validation accuracy: ~4% — strong underfitting observed.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Flat loss curves → insufficient model capacity or static LR.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Confusion matrix shows misclassification across most classes.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Next phase: Apply ES(1+1) to evolve learning rate, dropout, and filters.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Goal: adaptive optimization to improve convergence.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016" y="141766"/>
            <a:ext cx="7495920" cy="4806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output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241005" y="622443"/>
            <a:ext cx="8674035" cy="600164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>
            <a:spAutoFit/>
          </a:bodyPr>
          <a:lstStyle/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118/118 [==============================] - 5s 28ms/step - loss: 3.2189 - accuracy: 0.0400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Test Accuracy: 4.00%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118/118 [==============================] - 6s 38ms/step</a:t>
            </a:r>
            <a:endParaRPr lang="en-US" sz="1000" b="0" u="none" strike="noStrike" dirty="0">
              <a:solidFill>
                <a:schemeClr val="dk1"/>
              </a:solidFill>
              <a:effectLst/>
              <a:uFillTx/>
              <a:latin typeface="Cascadia Code" panose="020B0609020000020004" pitchFamily="49" charset="0"/>
              <a:ea typeface="Hind"/>
              <a:cs typeface="Cascadia Code" panose="020B0609020000020004" pitchFamily="49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12476D5-AC91-4559-AE07-2D8A031BD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620" y="1222607"/>
            <a:ext cx="3868759" cy="35644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016" y="141766"/>
            <a:ext cx="7495920" cy="4806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output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241005" y="622443"/>
            <a:ext cx="8674035" cy="4201150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>
            <a:spAutoFit/>
          </a:bodyPr>
          <a:lstStyle/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precision    recall  f1-score   support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baby_back_ribs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cheesecake       0.00      0.00      0.00       150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chicken_wings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chocolate_mousse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churros       0.00      0.00      0.00       150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club_sandwich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donuts       0.00      0.00      0.00       150 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french_fries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greek_salad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grilled_cheese_sandwich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hamburger       0.00      0.00      0.00       150      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hot_dog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ice_cream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lobster_roll_sandwich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macaroni_and_cheese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macarons       0.00      0.00      0.00       150     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omelette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onion_rings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pancakes       0.00      0.00      0.00       150    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pizza       0.00      0.00      0.00       150    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pork_chop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        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prime_rib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0.00      0.00      0.00       150   </a:t>
            </a:r>
          </a:p>
          <a:p>
            <a:pPr algn="ctr"/>
            <a:r>
              <a:rPr lang="en-US" sz="1000" dirty="0" err="1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pulled_pork_sandwich</a:t>
            </a:r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0.04      1.00      0.08       150    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steak       0.00      0.00      0.00       150  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waffles       0.00      0.00      0.00       150 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accuracy                           0.04      3750   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macro avg       0.00      0.04      0.00      3750           </a:t>
            </a:r>
          </a:p>
          <a:p>
            <a:pPr algn="ctr"/>
            <a:r>
              <a:rPr lang="en-US" sz="1000" dirty="0">
                <a:solidFill>
                  <a:schemeClr val="dk1"/>
                </a:solidFill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weighted avg       0.00      0.04      0.00      3750</a:t>
            </a:r>
            <a:endParaRPr lang="en-US" sz="1000" b="0" u="none" strike="noStrike" dirty="0">
              <a:solidFill>
                <a:schemeClr val="dk1"/>
              </a:solidFill>
              <a:effectLst/>
              <a:uFillTx/>
              <a:latin typeface="Cascadia Code" panose="020B0609020000020004" pitchFamily="49" charset="0"/>
              <a:ea typeface="Hind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48377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016" y="141766"/>
            <a:ext cx="7495920" cy="4806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output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74D85AC-46E7-4055-844D-AD2BCD08C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493" y="645259"/>
            <a:ext cx="4845013" cy="3852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698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43540" y="133920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Next </a:t>
            </a:r>
            <a:r>
              <a:rPr lang="fr-FR" sz="2600" b="1" dirty="0" err="1">
                <a:solidFill>
                  <a:schemeClr val="dk1"/>
                </a:solidFill>
                <a:latin typeface="Space Grotesk"/>
              </a:rPr>
              <a:t>Steps</a:t>
            </a: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 and Outlook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ubTitle"/>
          </p:nvPr>
        </p:nvSpPr>
        <p:spPr>
          <a:xfrm>
            <a:off x="2523960" y="2083981"/>
            <a:ext cx="6391080" cy="217337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Integrate ES(1+1) algorithm with 1/5 success rule.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Fitness = validation accuracy per generation.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Evolve hyperparameters: LR, batch size, dropout rate, layer depth.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Compare baseline CNN vs ES-optimized CNN.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Visualize evolution of fitness across generations.</a:t>
            </a:r>
          </a:p>
        </p:txBody>
      </p:sp>
    </p:spTree>
    <p:extLst>
      <p:ext uri="{BB962C8B-B14F-4D97-AF65-F5344CB8AC3E}">
        <p14:creationId xmlns:p14="http://schemas.microsoft.com/office/powerpoint/2010/main" val="1478115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809074" cy="51567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dirty="0">
                <a:solidFill>
                  <a:schemeClr val="dk1"/>
                </a:solidFill>
                <a:latin typeface="Space Grotesk"/>
                <a:ea typeface="Space Grotesk"/>
              </a:rPr>
              <a:t>WSL2 GPU Training Setup &amp; Troubleshooting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228600" y="871740"/>
            <a:ext cx="4352400" cy="40429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1" i="1" u="sng" dirty="0">
                <a:solidFill>
                  <a:srgbClr val="FFFFFF"/>
                </a:solidFill>
                <a:latin typeface="OpenSymbol"/>
              </a:rPr>
              <a:t>Setup Overview</a:t>
            </a:r>
          </a:p>
          <a:p>
            <a: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Environment: </a:t>
            </a:r>
          </a:p>
          <a:p>
            <a:pPr marL="171450" lvl="6" indent="-171450">
              <a:buFont typeface="Wingdings" panose="05000000000000000000" pitchFamily="2" charset="2"/>
              <a:buChar char="§"/>
              <a:tabLst>
                <a:tab pos="0" algn="l"/>
              </a:tabLst>
            </a:pPr>
            <a:r>
              <a:rPr lang="en-US" sz="1100" dirty="0">
                <a:solidFill>
                  <a:srgbClr val="FFFFFF"/>
                </a:solidFill>
                <a:latin typeface="OpenSymbol"/>
              </a:rPr>
              <a:t>Windows 11 + WSL2 (Ubuntu 22.04)</a:t>
            </a:r>
          </a:p>
          <a:p>
            <a:pPr marL="171450" lvl="1" indent="-171450">
              <a:buFont typeface="Wingdings" panose="05000000000000000000" pitchFamily="2" charset="2"/>
              <a:buChar char="§"/>
              <a:tabLst>
                <a:tab pos="0" algn="l"/>
              </a:tabLst>
            </a:pPr>
            <a:r>
              <a:rPr lang="en-US" sz="1100" dirty="0">
                <a:solidFill>
                  <a:srgbClr val="FFFFFF"/>
                </a:solidFill>
                <a:latin typeface="OpenSymbol"/>
              </a:rPr>
              <a:t>CUDA 13.0, </a:t>
            </a:r>
            <a:r>
              <a:rPr lang="en-US" sz="1100" dirty="0" err="1">
                <a:solidFill>
                  <a:srgbClr val="FFFFFF"/>
                </a:solidFill>
                <a:latin typeface="OpenSymbol"/>
              </a:rPr>
              <a:t>cuDNN</a:t>
            </a:r>
            <a:r>
              <a:rPr lang="en-US" sz="1100" dirty="0">
                <a:solidFill>
                  <a:srgbClr val="FFFFFF"/>
                </a:solidFill>
                <a:latin typeface="OpenSymbol"/>
              </a:rPr>
              <a:t>, TensorFlow GPU 2.17</a:t>
            </a:r>
          </a:p>
          <a:p>
            <a:pPr marL="171450" lvl="1" indent="-171450">
              <a:buFont typeface="Wingdings" panose="05000000000000000000" pitchFamily="2" charset="2"/>
              <a:buChar char="§"/>
              <a:tabLst>
                <a:tab pos="0" algn="l"/>
              </a:tabLst>
            </a:pPr>
            <a:r>
              <a:rPr lang="en-US" sz="1100" dirty="0">
                <a:solidFill>
                  <a:srgbClr val="FFFFFF"/>
                </a:solidFill>
                <a:latin typeface="OpenSymbol"/>
              </a:rPr>
              <a:t>Dual NVIDIA RTX 3090 (24 GB each)</a:t>
            </a:r>
          </a:p>
          <a:p>
            <a:pPr marL="228600" indent="-228600">
              <a:lnSpc>
                <a:spcPct val="100000"/>
              </a:lnSpc>
              <a:buFont typeface="Wingdings" panose="05000000000000000000" pitchFamily="2" charset="2"/>
              <a:buChar char="§"/>
              <a:tabLst>
                <a:tab pos="0" algn="l"/>
              </a:tabLst>
            </a:pP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Miniconda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virtual environment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tf-gpu</a:t>
            </a:r>
            <a:endParaRPr lang="en-US" sz="1200" dirty="0">
              <a:solidFill>
                <a:srgbClr val="FFFFFF"/>
              </a:solidFill>
              <a:latin typeface="OpenSymbol"/>
            </a:endParaRPr>
          </a:p>
          <a:p>
            <a: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Tools used:</a:t>
            </a:r>
          </a:p>
          <a:p>
            <a:pPr marL="171450" indent="-171450">
              <a:lnSpc>
                <a:spcPct val="100000"/>
              </a:lnSpc>
              <a:buFont typeface="Wingdings" panose="05000000000000000000" pitchFamily="2" charset="2"/>
              <a:buChar char="§"/>
              <a:tabLst>
                <a:tab pos="0" algn="l"/>
              </a:tabLst>
            </a:pP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JupyterLab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via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MobaXterm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remote terminal</a:t>
            </a:r>
          </a:p>
          <a:p>
            <a:pPr marL="171450" indent="-171450">
              <a:lnSpc>
                <a:spcPct val="100000"/>
              </a:lnSpc>
              <a:buFont typeface="Wingdings" panose="05000000000000000000" pitchFamily="2" charset="2"/>
              <a:buChar char="§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Verified GPU access with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nvidia-smi</a:t>
            </a:r>
            <a:endParaRPr lang="en-US" sz="1200" dirty="0">
              <a:solidFill>
                <a:srgbClr val="FFFFFF"/>
              </a:solidFill>
              <a:latin typeface="OpenSymbol"/>
            </a:endParaRPr>
          </a:p>
          <a:p>
            <a:pPr marL="171450" indent="-171450">
              <a:lnSpc>
                <a:spcPct val="100000"/>
              </a:lnSpc>
              <a:buFont typeface="Wingdings" panose="05000000000000000000" pitchFamily="2" charset="2"/>
              <a:buChar char="§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Mixed precision +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MirroredStrategy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for parallel training</a:t>
            </a:r>
          </a:p>
          <a:p>
            <a:pPr marL="171450" indent="-171450">
              <a:lnSpc>
                <a:spcPct val="100000"/>
              </a:lnSpc>
              <a:buFont typeface="Wingdings" panose="05000000000000000000" pitchFamily="2" charset="2"/>
              <a:buChar char="§"/>
              <a:tabLst>
                <a:tab pos="0" algn="l"/>
              </a:tabLst>
            </a:pP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Problems Faced</a:t>
            </a:r>
          </a:p>
          <a:p>
            <a:pPr marL="228600" indent="-228600">
              <a:lnSpc>
                <a:spcPct val="100000"/>
              </a:lnSpc>
              <a:buAutoNum type="arabicPeriod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Out-Of-Memory (OOM) during long epochs → WSL2 default memory cap too low.</a:t>
            </a:r>
          </a:p>
          <a:p>
            <a:pPr marL="228600" indent="-228600">
              <a:lnSpc>
                <a:spcPct val="100000"/>
              </a:lnSpc>
              <a:buAutoNum type="arabicPeriod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Swap file creation failed (The parameter is incorrect) — Windows swap misconfigured.</a:t>
            </a:r>
          </a:p>
          <a:p>
            <a:pPr marL="228600" indent="-228600">
              <a:lnSpc>
                <a:spcPct val="100000"/>
              </a:lnSpc>
              <a:buAutoNum type="arabicPeriod"/>
              <a:tabLst>
                <a:tab pos="0" algn="l"/>
              </a:tabLst>
            </a:pP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cuBLAS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registration errors when multiple CUDA contexts conflicted.</a:t>
            </a:r>
          </a:p>
          <a:p>
            <a:pPr marL="228600" indent="-228600">
              <a:lnSpc>
                <a:spcPct val="100000"/>
              </a:lnSpc>
              <a:buAutoNum type="arabicPeriod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Training slower than expected due to dataset prefetch causing CPU memory exhaustion.</a:t>
            </a:r>
          </a:p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32D170E7-63B6-47A1-98F6-219FEC3503BB}"/>
              </a:ext>
            </a:extLst>
          </p:cNvPr>
          <p:cNvSpPr txBox="1">
            <a:spLocks/>
          </p:cNvSpPr>
          <p:nvPr/>
        </p:nvSpPr>
        <p:spPr>
          <a:xfrm>
            <a:off x="4633137" y="871740"/>
            <a:ext cx="4352400" cy="40429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Recovery &amp; Fixes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Edited .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wslconfig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:</a:t>
            </a: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800" dirty="0">
                <a:solidFill>
                  <a:srgbClr val="FFFFFF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[wsl2]</a:t>
            </a: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800" dirty="0">
                <a:solidFill>
                  <a:srgbClr val="FFFFFF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memory=20GB</a:t>
            </a: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800" dirty="0">
                <a:solidFill>
                  <a:srgbClr val="FFFFFF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swap=8GB</a:t>
            </a: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800" dirty="0" err="1">
                <a:solidFill>
                  <a:srgbClr val="FFFFFF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swapFile</a:t>
            </a:r>
            <a:r>
              <a:rPr lang="en-US" sz="800" dirty="0">
                <a:solidFill>
                  <a:srgbClr val="FFFFFF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=C:\\</a:t>
            </a:r>
            <a:r>
              <a:rPr lang="en-US" sz="800" dirty="0" err="1">
                <a:solidFill>
                  <a:srgbClr val="FFFFFF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wsl-swap.vhdx</a:t>
            </a:r>
            <a:endParaRPr lang="en-US" sz="800" dirty="0">
              <a:solidFill>
                <a:srgbClr val="FFFFFF"/>
              </a:solidFill>
              <a:latin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800" dirty="0" err="1">
                <a:solidFill>
                  <a:srgbClr val="FFFFFF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localhostForwarding</a:t>
            </a:r>
            <a:r>
              <a:rPr lang="en-US" sz="800" dirty="0">
                <a:solidFill>
                  <a:srgbClr val="FFFFFF"/>
                </a:solidFill>
                <a:latin typeface="Cascadia Code Light" panose="020B0609020000020004" pitchFamily="49" charset="0"/>
                <a:cs typeface="Cascadia Code Light" panose="020B0609020000020004" pitchFamily="49" charset="0"/>
              </a:rPr>
              <a:t>=true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Manually created swap disk using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PowerShell:fsutil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file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createnew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C:\wsl-swap.vhdx 8589934592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Disabled excess prefetch (.prefetch(2) instead of AUTOTUNE) to balance RAM use.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Used single-GPU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MirroredStrategy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(devices=["/gpu:0"]) for stability.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Validated with free -h and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nvidia-smi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→ consistent 90–95% GPU utilization, no crashes.</a:t>
            </a:r>
          </a:p>
        </p:txBody>
      </p:sp>
    </p:spTree>
    <p:extLst>
      <p:ext uri="{BB962C8B-B14F-4D97-AF65-F5344CB8AC3E}">
        <p14:creationId xmlns:p14="http://schemas.microsoft.com/office/powerpoint/2010/main" val="35040350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016" y="141766"/>
            <a:ext cx="7495920" cy="4806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Project Overview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241005" y="622443"/>
            <a:ext cx="8674035" cy="4478149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>
            <a:spAutoFit/>
          </a:bodyPr>
          <a:lstStyle/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│                     DATA INPUT PIPELINE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Load raw food images (25 American food categories)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Examples: burger, pizza, ribs, fries, waffles, etc.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Preprocessing:    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Resize images to 224×224×3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Normalize pixel values to [0,1]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Augment data: random flip, rotation, brightness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Split into Train (70%), Val (15%), Test (15%)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                BASELINE CNN MODEL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Input Layer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Shape: 224×224×3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└───────┬───────┘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▼</a:t>
            </a:r>
          </a:p>
        </p:txBody>
      </p:sp>
    </p:spTree>
    <p:extLst>
      <p:ext uri="{BB962C8B-B14F-4D97-AF65-F5344CB8AC3E}">
        <p14:creationId xmlns:p14="http://schemas.microsoft.com/office/powerpoint/2010/main" val="3348964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016" y="141766"/>
            <a:ext cx="7495920" cy="4806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Project Overview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241005" y="622443"/>
            <a:ext cx="8674035" cy="4478149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>
            <a:spAutoFit/>
          </a:bodyPr>
          <a:lstStyle/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Convolutional Block 1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Conv2D(64 filters, 3×3,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ReLU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, padding='same')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BatchNormalization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()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Conv2D(64 filters, 3×3,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ReLU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)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MaxPooling2D()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Dropout(0.3)  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Convolutional Block 2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Conv2D(128 filters, 3×3,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ReLU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, padding='same')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BatchNormalization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()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Conv2D(128 filters, 3×3,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ReLU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)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MaxPooling2D()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Dropout(0.4)  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Convolutional Block 3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Conv2D(256 filters, 3×3,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ReLU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, padding='same')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BatchNormalization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()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Conv2D(256 filters, 3×3,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ReLU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)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MaxPooling2D()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Dropout(0.5)  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380919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016" y="141766"/>
            <a:ext cx="7495920" cy="4806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Project Overview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241005" y="622443"/>
            <a:ext cx="8674035" cy="1985159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>
            <a:spAutoFit/>
          </a:bodyPr>
          <a:lstStyle/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Flatten + Dense Layers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Flatten()      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Dense(512,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ReLU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)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Dropout(0.5)   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Dense(25,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Softmax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) → Outputs food class probabilities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   OUTPUT: Predicted food class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e.g., “Cheeseburger”, “Waffles”, or “Outside scope”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14509783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016" y="474919"/>
            <a:ext cx="7495920" cy="4806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EVOLUTIONARY STRATEGY (1+1) OPTIMIZATION LOOP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311889" y="1380899"/>
            <a:ext cx="8674035" cy="3508653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>
            <a:spAutoFit/>
          </a:bodyPr>
          <a:lstStyle/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Initialize hyperparameters: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Learning rate (LR)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Batch size    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Dropout rate        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Number of filters per block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Train CNN → Evaluate on Validation Set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Compute fitness = validation accuracy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Generate offspring (mutate hyperparameters)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Small random change to LR, batch size, dropout, etc.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Train and evaluate new model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</p:txBody>
      </p:sp>
    </p:spTree>
    <p:extLst>
      <p:ext uri="{BB962C8B-B14F-4D97-AF65-F5344CB8AC3E}">
        <p14:creationId xmlns:p14="http://schemas.microsoft.com/office/powerpoint/2010/main" val="939587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73016" y="141766"/>
            <a:ext cx="7495920" cy="4806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0000"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EVOLUTIONARY STRATEGY (1+1) OPTIMIZATION LOOP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234982" y="913067"/>
            <a:ext cx="8674035" cy="1985159"/>
          </a:xfrm>
          <a:prstGeom prst="rect">
            <a:avLst/>
          </a:prstGeom>
          <a:noFill/>
          <a:ln w="0">
            <a:noFill/>
          </a:ln>
        </p:spPr>
        <p:txBody>
          <a:bodyPr wrap="square" lIns="91440" tIns="91440" rIns="91440" bIns="91440" anchor="t">
            <a:spAutoFit/>
          </a:bodyPr>
          <a:lstStyle/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Apply 1/5 success rule: 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If offspring performs better → accept &amp; increase step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 • Else → revert and reduce step size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Iterate over generations                 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       ▼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┌──────────────────────────────────────────────────────────┐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Final optimized model → retrain on combined </a:t>
            </a:r>
            <a:r>
              <a:rPr lang="en-US" sz="1000" b="0" u="none" strike="noStrike" dirty="0" err="1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train+val</a:t>
            </a:r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Test final accuracy on held-out test data 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│ Expected improvement: 15–25% accuracy gain               │</a:t>
            </a:r>
          </a:p>
          <a:p>
            <a:pPr algn="ctr"/>
            <a:r>
              <a:rPr lang="en-US" sz="1000" b="0" u="none" strike="noStrike" dirty="0">
                <a:solidFill>
                  <a:schemeClr val="dk1"/>
                </a:solidFill>
                <a:effectLst/>
                <a:uFillTx/>
                <a:latin typeface="Cascadia Code" panose="020B0609020000020004" pitchFamily="49" charset="0"/>
                <a:ea typeface="Hind"/>
                <a:cs typeface="Cascadia Code" panose="020B0609020000020004" pitchFamily="49" charset="0"/>
              </a:rPr>
              <a:t> └──────────────────────────────────────────────────────────┘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20856573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Conclusions</a:t>
            </a:r>
            <a:endParaRPr lang="fr-FR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296282" y="936405"/>
            <a:ext cx="6565262" cy="3387502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Environment ready: WSL2 + CUDA; dual RTX 3090 recognized.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Dataset prepared: 25 balanced classes, split 70/15/15.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Pipeline verified: loaders, augmentation, and </a:t>
            </a:r>
            <a:r>
              <a:rPr lang="en-US" sz="1200" dirty="0" err="1">
                <a:solidFill>
                  <a:schemeClr val="dk1"/>
                </a:solidFill>
                <a:latin typeface="Hind"/>
                <a:ea typeface="Hind"/>
              </a:rPr>
              <a:t>tf.data</a:t>
            </a: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 caching/prefetch working.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Training attempt: model stuck at ~4% (predicting one class) → baseline not established yet.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Immediate fixes (in progress): unify to </a:t>
            </a:r>
            <a:r>
              <a:rPr lang="en-US" sz="1200" dirty="0" err="1">
                <a:solidFill>
                  <a:schemeClr val="dk1"/>
                </a:solidFill>
                <a:latin typeface="Hind"/>
                <a:ea typeface="Hind"/>
              </a:rPr>
              <a:t>tf.data</a:t>
            </a: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 only, run 100-image overfit check, reduce dropout, tune LR.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Near-term goal: get a learning baseline, then apply ES(1+1) to evolve LR, batch size, and depth.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299483" y="171093"/>
            <a:ext cx="5619240" cy="240065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72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Project Update</a:t>
            </a:r>
            <a:endParaRPr lang="fr-FR" sz="72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310;p38"/>
          <p:cNvSpPr/>
          <p:nvPr/>
        </p:nvSpPr>
        <p:spPr>
          <a:xfrm>
            <a:off x="6657840" y="4324320"/>
            <a:ext cx="2180880" cy="15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Please keep this slide for attribution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CE7E954-7D6B-4FAF-9B98-4B6DCF0D7E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840" y="2929790"/>
            <a:ext cx="3143689" cy="20767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43540" y="133920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PROBLEM RECAP &amp; PREVIOUS ISSUES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ubTitle"/>
          </p:nvPr>
        </p:nvSpPr>
        <p:spPr>
          <a:xfrm>
            <a:off x="2523960" y="1743740"/>
            <a:ext cx="6391080" cy="316141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32500" lnSpcReduction="20000"/>
          </a:bodyPr>
          <a:lstStyle/>
          <a:p>
            <a:pPr>
              <a:lnSpc>
                <a:spcPct val="120000"/>
              </a:lnSpc>
            </a:pPr>
            <a:r>
              <a:rPr lang="en-US" b="1" u="sng" dirty="0">
                <a:latin typeface="Hind"/>
              </a:rPr>
              <a:t>Previous Presentation Issues:</a:t>
            </a:r>
            <a:endParaRPr lang="en-US" u="sng" dirty="0">
              <a:latin typeface="Hind"/>
            </a:endParaRP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Baseline model severely underfitted (training loss stayed high)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Val loss flat at ~3.2, never improved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Poor feature learning and gradient flow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Limited model capacity for 25 food classes</a:t>
            </a:r>
          </a:p>
          <a:p>
            <a:pPr>
              <a:lnSpc>
                <a:spcPct val="120000"/>
              </a:lnSpc>
            </a:pPr>
            <a:endParaRPr lang="en-US" dirty="0">
              <a:latin typeface="Hind"/>
            </a:endParaRPr>
          </a:p>
          <a:p>
            <a:pPr>
              <a:lnSpc>
                <a:spcPct val="120000"/>
              </a:lnSpc>
            </a:pPr>
            <a:r>
              <a:rPr lang="en-US" b="1" u="sng" dirty="0">
                <a:latin typeface="Hind"/>
              </a:rPr>
              <a:t>Root Causes Identified:</a:t>
            </a:r>
            <a:endParaRPr lang="en-US" u="sng" dirty="0">
              <a:latin typeface="Hind"/>
            </a:endParaRPr>
          </a:p>
          <a:p>
            <a:pPr marL="742950" indent="-742950">
              <a:lnSpc>
                <a:spcPct val="120000"/>
              </a:lnSpc>
              <a:buFont typeface="+mj-lt"/>
              <a:buAutoNum type="arabicPeriod"/>
            </a:pPr>
            <a:r>
              <a:rPr lang="en-US" dirty="0">
                <a:latin typeface="Hind"/>
              </a:rPr>
              <a:t>Shallow architecture (insufficient depth)</a:t>
            </a:r>
          </a:p>
          <a:p>
            <a:pPr marL="742950" indent="-742950">
              <a:lnSpc>
                <a:spcPct val="120000"/>
              </a:lnSpc>
              <a:buFont typeface="+mj-lt"/>
              <a:buAutoNum type="arabicPeriod"/>
            </a:pPr>
            <a:r>
              <a:rPr lang="en-US" dirty="0">
                <a:latin typeface="Hind"/>
              </a:rPr>
              <a:t>Aggressive </a:t>
            </a:r>
            <a:r>
              <a:rPr lang="en-US" dirty="0" err="1">
                <a:latin typeface="Hind"/>
              </a:rPr>
              <a:t>downsampling</a:t>
            </a:r>
            <a:r>
              <a:rPr lang="en-US" dirty="0">
                <a:latin typeface="Hind"/>
              </a:rPr>
              <a:t> (lost spatial information)</a:t>
            </a:r>
          </a:p>
          <a:p>
            <a:pPr marL="742950" indent="-742950">
              <a:lnSpc>
                <a:spcPct val="120000"/>
              </a:lnSpc>
              <a:buFont typeface="+mj-lt"/>
              <a:buAutoNum type="arabicPeriod"/>
            </a:pPr>
            <a:r>
              <a:rPr lang="en-US" dirty="0">
                <a:latin typeface="Hind"/>
              </a:rPr>
              <a:t>Weak data augmentation</a:t>
            </a:r>
          </a:p>
          <a:p>
            <a:pPr marL="742950" indent="-742950">
              <a:lnSpc>
                <a:spcPct val="120000"/>
              </a:lnSpc>
              <a:buFont typeface="+mj-lt"/>
              <a:buAutoNum type="arabicPeriod"/>
            </a:pPr>
            <a:r>
              <a:rPr lang="en-US" dirty="0">
                <a:latin typeface="Hind"/>
              </a:rPr>
              <a:t>Suboptimal hyperparameters</a:t>
            </a:r>
            <a:endParaRPr lang="en-US" sz="1600" dirty="0">
              <a:solidFill>
                <a:schemeClr val="dk1"/>
              </a:solidFill>
              <a:latin typeface="Hind"/>
              <a:ea typeface="Hind"/>
            </a:endParaRPr>
          </a:p>
        </p:txBody>
      </p:sp>
    </p:spTree>
    <p:extLst>
      <p:ext uri="{BB962C8B-B14F-4D97-AF65-F5344CB8AC3E}">
        <p14:creationId xmlns:p14="http://schemas.microsoft.com/office/powerpoint/2010/main" val="24782348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809074" cy="51567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dirty="0">
                <a:solidFill>
                  <a:schemeClr val="dk1"/>
                </a:solidFill>
                <a:latin typeface="Space Grotesk"/>
                <a:ea typeface="Space Grotesk"/>
              </a:rPr>
              <a:t>IMPROVED BASELINE ARCHITECTURE &amp; TRAINING OPTIMIZATIONS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228600" y="871740"/>
            <a:ext cx="4352400" cy="40429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2500" lnSpcReduction="10000"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1" i="1" u="sng" dirty="0">
                <a:solidFill>
                  <a:srgbClr val="FFFFFF"/>
                </a:solidFill>
                <a:latin typeface="OpenSymbol"/>
              </a:rPr>
              <a:t>Key Architectural Changes: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b="1" i="1" dirty="0">
              <a:solidFill>
                <a:srgbClr val="FFFFFF"/>
              </a:solidFill>
              <a:latin typeface="OpenSymbo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1" i="1" dirty="0">
                <a:solidFill>
                  <a:srgbClr val="FFFFFF"/>
                </a:solidFill>
                <a:latin typeface="OpenSymbol"/>
              </a:rPr>
              <a:t>Residual Connections </a:t>
            </a:r>
            <a:r>
              <a:rPr lang="en-US" sz="1200" i="1" dirty="0">
                <a:solidFill>
                  <a:srgbClr val="FFFFFF"/>
                </a:solidFill>
                <a:latin typeface="OpenSymbol"/>
              </a:rPr>
              <a:t>- Better gradient flow through 4 blocks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i="1" dirty="0">
                <a:solidFill>
                  <a:srgbClr val="FFFFFF"/>
                </a:solidFill>
                <a:latin typeface="OpenSymbol"/>
              </a:rPr>
              <a:t>Block 1: 64→128 channels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i="1" dirty="0">
                <a:solidFill>
                  <a:srgbClr val="FFFFFF"/>
                </a:solidFill>
                <a:latin typeface="OpenSymbol"/>
              </a:rPr>
              <a:t>Block 2: 128→256 channels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i="1" dirty="0">
                <a:solidFill>
                  <a:srgbClr val="FFFFFF"/>
                </a:solidFill>
                <a:latin typeface="OpenSymbol"/>
              </a:rPr>
              <a:t>Block 3: 256→512 channels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i="1" dirty="0">
                <a:solidFill>
                  <a:srgbClr val="FFFFFF"/>
                </a:solidFill>
                <a:latin typeface="OpenSymbol"/>
              </a:rPr>
              <a:t>Block 4: 512→1024 channels (NEW)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b="1" i="1" dirty="0">
              <a:solidFill>
                <a:srgbClr val="FFFFFF"/>
              </a:solidFill>
              <a:latin typeface="OpenSymbo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1" i="1" dirty="0">
                <a:solidFill>
                  <a:srgbClr val="FFFFFF"/>
                </a:solidFill>
                <a:latin typeface="OpenSymbol"/>
              </a:rPr>
              <a:t>Reduced </a:t>
            </a:r>
            <a:r>
              <a:rPr lang="en-US" sz="1200" b="1" i="1" dirty="0" err="1">
                <a:solidFill>
                  <a:srgbClr val="FFFFFF"/>
                </a:solidFill>
                <a:latin typeface="OpenSymbol"/>
              </a:rPr>
              <a:t>Downsampling</a:t>
            </a:r>
            <a:r>
              <a:rPr lang="en-US" sz="1200" b="1" i="1" dirty="0">
                <a:solidFill>
                  <a:srgbClr val="FFFFFF"/>
                </a:solidFill>
                <a:latin typeface="OpenSymbol"/>
              </a:rPr>
              <a:t> - </a:t>
            </a:r>
            <a:r>
              <a:rPr lang="en-US" sz="1200" i="1" dirty="0" err="1">
                <a:solidFill>
                  <a:srgbClr val="FFFFFF"/>
                </a:solidFill>
                <a:latin typeface="OpenSymbol"/>
              </a:rPr>
              <a:t>MaxPooling</a:t>
            </a:r>
            <a:r>
              <a:rPr lang="en-US" sz="1200" i="1" dirty="0">
                <a:solidFill>
                  <a:srgbClr val="FFFFFF"/>
                </a:solidFill>
                <a:latin typeface="OpenSymbol"/>
              </a:rPr>
              <a:t> stride changed from 2→1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b="1" i="1" dirty="0">
              <a:solidFill>
                <a:srgbClr val="FFFFFF"/>
              </a:solidFill>
              <a:latin typeface="OpenSymbo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1" i="1" dirty="0">
                <a:solidFill>
                  <a:srgbClr val="FFFFFF"/>
                </a:solidFill>
                <a:latin typeface="OpenSymbol"/>
              </a:rPr>
              <a:t>Enhanced Capacity - </a:t>
            </a:r>
            <a:r>
              <a:rPr lang="en-US" sz="1200" i="1" dirty="0">
                <a:solidFill>
                  <a:srgbClr val="FFFFFF"/>
                </a:solidFill>
                <a:latin typeface="OpenSymbol"/>
              </a:rPr>
              <a:t>Added 4th residual block with 1024 filters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b="1" i="1" dirty="0">
              <a:solidFill>
                <a:srgbClr val="FFFFFF"/>
              </a:solidFill>
              <a:latin typeface="OpenSymbo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1" i="1" dirty="0">
                <a:solidFill>
                  <a:srgbClr val="FFFFFF"/>
                </a:solidFill>
                <a:latin typeface="OpenSymbol"/>
              </a:rPr>
              <a:t>Better Regularization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i="1" dirty="0">
                <a:solidFill>
                  <a:srgbClr val="FFFFFF"/>
                </a:solidFill>
                <a:latin typeface="OpenSymbol"/>
              </a:rPr>
              <a:t>Dropout: 0.25 (conv layers), 0.5 (dense layers)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i="1" dirty="0" err="1">
                <a:solidFill>
                  <a:srgbClr val="FFFFFF"/>
                </a:solidFill>
                <a:latin typeface="OpenSymbol"/>
              </a:rPr>
              <a:t>BatchNormalization</a:t>
            </a:r>
            <a:r>
              <a:rPr lang="en-US" sz="1200" i="1" dirty="0">
                <a:solidFill>
                  <a:srgbClr val="FFFFFF"/>
                </a:solidFill>
                <a:latin typeface="OpenSymbol"/>
              </a:rPr>
              <a:t> after every conv layer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i="1" dirty="0">
                <a:solidFill>
                  <a:srgbClr val="FFFFFF"/>
                </a:solidFill>
                <a:latin typeface="OpenSymbol"/>
              </a:rPr>
              <a:t>Label smoothing: 0.05</a:t>
            </a:r>
            <a:endParaRPr lang="en-US" sz="1200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32D170E7-63B6-47A1-98F6-219FEC3503BB}"/>
              </a:ext>
            </a:extLst>
          </p:cNvPr>
          <p:cNvSpPr txBox="1">
            <a:spLocks/>
          </p:cNvSpPr>
          <p:nvPr/>
        </p:nvSpPr>
        <p:spPr>
          <a:xfrm>
            <a:off x="4633137" y="871740"/>
            <a:ext cx="4352400" cy="40429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1" dirty="0">
                <a:solidFill>
                  <a:srgbClr val="FFFFFF"/>
                </a:solidFill>
                <a:latin typeface="OpenSymbol"/>
              </a:rPr>
              <a:t>Multi-GPU &amp; Mixed Precision: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Dual RTX 3090 (48GB VRAM total)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Mixed Float16 precision → 2-3x faster training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Effective batch size: 96 (48 per GPU)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b="1" dirty="0">
              <a:solidFill>
                <a:srgbClr val="FFFFFF"/>
              </a:solidFill>
              <a:latin typeface="OpenSymbo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1" dirty="0">
                <a:solidFill>
                  <a:srgbClr val="FFFFFF"/>
                </a:solidFill>
                <a:latin typeface="OpenSymbol"/>
              </a:rPr>
              <a:t>Data Pipeline Improvements:</a:t>
            </a:r>
            <a:endParaRPr lang="en-US" sz="1200" dirty="0">
              <a:solidFill>
                <a:srgbClr val="FFFFFF"/>
              </a:solidFill>
              <a:latin typeface="OpenSymbol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tf.data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with AUTOTUNE for faster loading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Enhanced augmentation: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RandomFlip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,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RandomRotation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,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RandomZoom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, </a:t>
            </a: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RandomContrast</a:t>
            </a:r>
            <a:endParaRPr lang="en-US" sz="1200" dirty="0">
              <a:solidFill>
                <a:srgbClr val="FFFFFF"/>
              </a:solidFill>
              <a:latin typeface="OpenSymbol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Proper normalization: pixels scaled 0-255 → 0-1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dirty="0">
              <a:solidFill>
                <a:srgbClr val="FFFFFF"/>
              </a:solidFill>
              <a:latin typeface="OpenSymbo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1" dirty="0">
                <a:solidFill>
                  <a:srgbClr val="FFFFFF"/>
                </a:solidFill>
                <a:latin typeface="OpenSymbol"/>
              </a:rPr>
              <a:t>Training Strategy: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50 epochs with early stopping (patience=15)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ReduceLROnPlateau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(factor=0.3, patience=5)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rgbClr val="FFFFFF"/>
                </a:solidFill>
                <a:latin typeface="OpenSymbol"/>
              </a:rPr>
              <a:t>Adam optimizer: LR=0.002</a:t>
            </a:r>
          </a:p>
        </p:txBody>
      </p:sp>
    </p:spTree>
    <p:extLst>
      <p:ext uri="{BB962C8B-B14F-4D97-AF65-F5344CB8AC3E}">
        <p14:creationId xmlns:p14="http://schemas.microsoft.com/office/powerpoint/2010/main" val="41488751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86070" y="212565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dirty="0">
                <a:solidFill>
                  <a:schemeClr val="dk1"/>
                </a:solidFill>
                <a:latin typeface="Space Grotesk"/>
                <a:ea typeface="Space Grotesk"/>
              </a:rPr>
              <a:t>BASELINE RESULTS - MAJOR IMPROVEMENT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ubTitle"/>
          </p:nvPr>
        </p:nvSpPr>
        <p:spPr>
          <a:xfrm>
            <a:off x="297712" y="3714307"/>
            <a:ext cx="8617328" cy="121662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77500" lnSpcReduction="20000"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600" b="1" dirty="0">
                <a:solidFill>
                  <a:schemeClr val="dk1"/>
                </a:solidFill>
                <a:latin typeface="Hind"/>
                <a:ea typeface="Hind"/>
              </a:rPr>
              <a:t>Key Observations:</a:t>
            </a:r>
            <a:endParaRPr lang="en-US" sz="1600" dirty="0">
              <a:solidFill>
                <a:schemeClr val="dk1"/>
              </a:solidFill>
              <a:latin typeface="Hind"/>
              <a:ea typeface="Hind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Loss curves show proper convergence (no more underfitting!)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Model learns meaningful features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Ready for hyperparameter optimization</a:t>
            </a:r>
          </a:p>
        </p:txBody>
      </p:sp>
      <p:sp>
        <p:nvSpPr>
          <p:cNvPr id="6" name="PlaceHolder 2">
            <a:extLst>
              <a:ext uri="{FF2B5EF4-FFF2-40B4-BE49-F238E27FC236}">
                <a16:creationId xmlns:a16="http://schemas.microsoft.com/office/drawing/2014/main" id="{858B9E23-5B37-462E-A228-B2690CAAEFE7}"/>
              </a:ext>
            </a:extLst>
          </p:cNvPr>
          <p:cNvSpPr txBox="1">
            <a:spLocks/>
          </p:cNvSpPr>
          <p:nvPr/>
        </p:nvSpPr>
        <p:spPr>
          <a:xfrm>
            <a:off x="186070" y="1491949"/>
            <a:ext cx="8617328" cy="450112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3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b="1" dirty="0"/>
              <a:t>Baseline CNN Performance:</a:t>
            </a:r>
            <a:endParaRPr lang="en-US" sz="1600" dirty="0">
              <a:solidFill>
                <a:schemeClr val="dk1"/>
              </a:solidFill>
              <a:latin typeface="Hind"/>
              <a:ea typeface="Hind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61C6F41-2B66-46E8-8584-A62B67010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8226228"/>
              </p:ext>
            </p:extLst>
          </p:nvPr>
        </p:nvGraphicFramePr>
        <p:xfrm>
          <a:off x="415999" y="2037796"/>
          <a:ext cx="7886700" cy="1580775"/>
        </p:xfrm>
        <a:graphic>
          <a:graphicData uri="http://schemas.openxmlformats.org/drawingml/2006/table">
            <a:tbl>
              <a:tblPr/>
              <a:tblGrid>
                <a:gridCol w="1971675">
                  <a:extLst>
                    <a:ext uri="{9D8B030D-6E8A-4147-A177-3AD203B41FA5}">
                      <a16:colId xmlns:a16="http://schemas.microsoft.com/office/drawing/2014/main" val="293902324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2621750813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207259995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966747215"/>
                    </a:ext>
                  </a:extLst>
                </a:gridCol>
              </a:tblGrid>
              <a:tr h="316155"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</a:rPr>
                        <a:t>Metric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40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9E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B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</a:rPr>
                        <a:t>Previous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409E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A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9E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BC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Improved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40A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B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A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5C0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Change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00B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B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B2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6B0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3153289"/>
                  </a:ext>
                </a:extLst>
              </a:tr>
              <a:tr h="316155"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Val Accuracy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40B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BC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B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13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~30%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40BC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5C0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BC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9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64.4%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C05C0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6B0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5C0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A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+34.4%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406B0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6B0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6B0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8C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4834330"/>
                  </a:ext>
                </a:extLst>
              </a:tr>
              <a:tr h="316155"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Test Accuracy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C013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9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13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0D3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~28%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009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A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95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DA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64.37%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10A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8C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A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C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+36.37%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E08C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8C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8C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690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6769727"/>
                  </a:ext>
                </a:extLst>
              </a:tr>
              <a:tr h="316155"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Val Loss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20D3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DA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0D36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0C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~3.2 (flat)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40DA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C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DA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~1.1 (converged)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80C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690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C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5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-66%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C0690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690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690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93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8860162"/>
                  </a:ext>
                </a:extLst>
              </a:tr>
              <a:tr h="316155"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Training Behavior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A0C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0C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0C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Underfitting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10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5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A9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Proper learning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605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93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5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5A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</a:rPr>
                        <a:t>✓ Fixed</a:t>
                      </a:r>
                    </a:p>
                  </a:txBody>
                  <a:tcPr marL="51547" marR="51547" marT="34365" marB="34365" anchor="ctr">
                    <a:lnL w="9525" cap="flat" cmpd="sng" algn="ctr">
                      <a:solidFill>
                        <a:srgbClr val="C093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93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93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939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37160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51157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89D4C60-98B2-4A33-BA2A-04DAE9F86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87" y="914969"/>
            <a:ext cx="3802557" cy="30267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5B4F8B-8312-4D6F-BEFD-62A261E59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357" y="905704"/>
            <a:ext cx="3726933" cy="3035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2159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AAEE4ED-DBC2-40A5-B5F0-A7D1D33781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98" y="166028"/>
            <a:ext cx="3749003" cy="345409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10BC4A5-E917-4ECE-A24C-FA28BF090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6021" y="3720093"/>
            <a:ext cx="5591955" cy="1190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193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43540" y="133920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ES(1+1) HYPERPARAMETER OPTIMIZATION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ubTitle"/>
          </p:nvPr>
        </p:nvSpPr>
        <p:spPr>
          <a:xfrm>
            <a:off x="2523960" y="1743740"/>
            <a:ext cx="6391080" cy="196347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32500" lnSpcReduction="20000"/>
          </a:bodyPr>
          <a:lstStyle/>
          <a:p>
            <a:pPr>
              <a:lnSpc>
                <a:spcPct val="120000"/>
              </a:lnSpc>
            </a:pPr>
            <a:r>
              <a:rPr lang="en-US" b="1" dirty="0">
                <a:latin typeface="Hind"/>
              </a:rPr>
              <a:t>Optimized Hyperparameters: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Learning rate (1e-5 to 1e-2 range)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Label smoothing (0.0 to 0.2)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Rotation range (0° to 15°)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Zoom range (5% to 30%)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latin typeface="Hind"/>
            </a:endParaRPr>
          </a:p>
          <a:p>
            <a:pPr>
              <a:lnSpc>
                <a:spcPct val="120000"/>
              </a:lnSpc>
            </a:pPr>
            <a:r>
              <a:rPr lang="en-US" b="1" dirty="0">
                <a:latin typeface="Hind"/>
              </a:rPr>
              <a:t>ES(1+1) Algorithm:</a:t>
            </a:r>
          </a:p>
          <a:p>
            <a:pPr>
              <a:lnSpc>
                <a:spcPct val="120000"/>
              </a:lnSpc>
            </a:pPr>
            <a:endParaRPr lang="en-US" b="1" u="sng" dirty="0">
              <a:latin typeface="Hind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EBA6AAB-3E7E-4AA5-993D-A9B2F815D4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0622" y="3398904"/>
            <a:ext cx="3665100" cy="149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5902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43540" y="133920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ES(1+1) OPTIMIZATION PROCESS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ubTitle"/>
          </p:nvPr>
        </p:nvSpPr>
        <p:spPr>
          <a:xfrm>
            <a:off x="2523960" y="1743740"/>
            <a:ext cx="6391080" cy="316141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25000" lnSpcReduction="20000"/>
          </a:bodyPr>
          <a:lstStyle/>
          <a:p>
            <a:pPr>
              <a:lnSpc>
                <a:spcPct val="120000"/>
              </a:lnSpc>
            </a:pPr>
            <a:r>
              <a:rPr lang="en-US" b="1" dirty="0">
                <a:latin typeface="Hind"/>
              </a:rPr>
              <a:t>Configuration: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Max generations: 10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Initial </a:t>
            </a:r>
            <a:r>
              <a:rPr lang="el-GR" dirty="0">
                <a:latin typeface="Hind"/>
              </a:rPr>
              <a:t>σ (</a:t>
            </a:r>
            <a:r>
              <a:rPr lang="en-US" dirty="0">
                <a:latin typeface="Hind"/>
              </a:rPr>
              <a:t>sigma): 0.2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Fitness metric: Validation accuracy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Training per generation: 10 epochs (fast iterations)</a:t>
            </a:r>
          </a:p>
          <a:p>
            <a:pPr>
              <a:lnSpc>
                <a:spcPct val="120000"/>
              </a:lnSpc>
            </a:pPr>
            <a:endParaRPr lang="en-US" dirty="0">
              <a:latin typeface="Hind"/>
            </a:endParaRPr>
          </a:p>
          <a:p>
            <a:pPr>
              <a:lnSpc>
                <a:spcPct val="120000"/>
              </a:lnSpc>
            </a:pPr>
            <a:r>
              <a:rPr lang="en-US" b="1" dirty="0">
                <a:latin typeface="Hind"/>
              </a:rPr>
              <a:t>1/5th Success Rule (Self-Adaptive Mutation):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Every 5 generations, check success rate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Success rate &gt; 20% → Increase </a:t>
            </a:r>
            <a:r>
              <a:rPr lang="el-GR" dirty="0">
                <a:latin typeface="Hind"/>
              </a:rPr>
              <a:t>σ </a:t>
            </a:r>
            <a:r>
              <a:rPr lang="en-US" dirty="0">
                <a:latin typeface="Hind"/>
              </a:rPr>
              <a:t>by 1.2× (explore more)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Success rate &lt; 20% → Decrease </a:t>
            </a:r>
            <a:r>
              <a:rPr lang="el-GR" dirty="0">
                <a:latin typeface="Hind"/>
              </a:rPr>
              <a:t>σ </a:t>
            </a:r>
            <a:r>
              <a:rPr lang="en-US" dirty="0">
                <a:latin typeface="Hind"/>
              </a:rPr>
              <a:t>by 0.8× (exploit more)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Success rate ≈ 20% → Keep </a:t>
            </a:r>
            <a:r>
              <a:rPr lang="el-GR" dirty="0">
                <a:latin typeface="Hind"/>
              </a:rPr>
              <a:t>σ </a:t>
            </a:r>
            <a:r>
              <a:rPr lang="en-US" dirty="0">
                <a:latin typeface="Hind"/>
              </a:rPr>
              <a:t>unchanged</a:t>
            </a:r>
          </a:p>
          <a:p>
            <a:pPr>
              <a:lnSpc>
                <a:spcPct val="120000"/>
              </a:lnSpc>
            </a:pPr>
            <a:endParaRPr lang="en-US" b="1" dirty="0">
              <a:latin typeface="Hind"/>
            </a:endParaRPr>
          </a:p>
          <a:p>
            <a:pPr>
              <a:lnSpc>
                <a:spcPct val="120000"/>
              </a:lnSpc>
            </a:pPr>
            <a:r>
              <a:rPr lang="en-US" b="1" dirty="0">
                <a:latin typeface="Hind"/>
              </a:rPr>
              <a:t>Early Stopping:</a:t>
            </a:r>
            <a:endParaRPr lang="en-US" dirty="0">
              <a:latin typeface="Hind"/>
            </a:endParaRP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Detected fitness plateau at generation 6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Improvement &lt; 0.001 over last 5 generations</a:t>
            </a:r>
          </a:p>
          <a:p>
            <a:pPr marL="571500" indent="-5715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Saved ~4 hours of computation</a:t>
            </a:r>
            <a:endParaRPr lang="en-US" sz="1600" dirty="0">
              <a:solidFill>
                <a:schemeClr val="dk1"/>
              </a:solidFill>
              <a:latin typeface="Hind"/>
              <a:ea typeface="Hind"/>
            </a:endParaRPr>
          </a:p>
        </p:txBody>
      </p:sp>
    </p:spTree>
    <p:extLst>
      <p:ext uri="{BB962C8B-B14F-4D97-AF65-F5344CB8AC3E}">
        <p14:creationId xmlns:p14="http://schemas.microsoft.com/office/powerpoint/2010/main" val="35083848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207335" y="-427894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dirty="0">
                <a:solidFill>
                  <a:schemeClr val="dk1"/>
                </a:solidFill>
                <a:latin typeface="Space Grotesk"/>
                <a:ea typeface="Space Grotesk"/>
              </a:rPr>
              <a:t>ES OPTIMIZATION RESULTS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ubTitle"/>
          </p:nvPr>
        </p:nvSpPr>
        <p:spPr>
          <a:xfrm>
            <a:off x="297712" y="3613101"/>
            <a:ext cx="8617328" cy="131783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70000" lnSpcReduction="20000"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600" b="1" dirty="0">
                <a:solidFill>
                  <a:schemeClr val="dk1"/>
                </a:solidFill>
                <a:latin typeface="Hind"/>
                <a:ea typeface="Hind"/>
              </a:rPr>
              <a:t>Optimized Hyperparameters Found:</a:t>
            </a:r>
            <a:endParaRPr lang="en-US" sz="1600" dirty="0">
              <a:solidFill>
                <a:schemeClr val="dk1"/>
              </a:solidFill>
              <a:latin typeface="Hind"/>
              <a:ea typeface="Hind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Learning rate: 0.001847 (↓ from 0.002)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Label smoothing: 0.0623 (↑ from 0.05)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Rotation: 0.0567 (↑ from 0.05)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Zoom: 0.1234 (↑ from 0.10)</a:t>
            </a:r>
          </a:p>
        </p:txBody>
      </p:sp>
      <p:sp>
        <p:nvSpPr>
          <p:cNvPr id="6" name="PlaceHolder 2">
            <a:extLst>
              <a:ext uri="{FF2B5EF4-FFF2-40B4-BE49-F238E27FC236}">
                <a16:creationId xmlns:a16="http://schemas.microsoft.com/office/drawing/2014/main" id="{858B9E23-5B37-462E-A228-B2690CAAEFE7}"/>
              </a:ext>
            </a:extLst>
          </p:cNvPr>
          <p:cNvSpPr txBox="1">
            <a:spLocks/>
          </p:cNvSpPr>
          <p:nvPr/>
        </p:nvSpPr>
        <p:spPr>
          <a:xfrm>
            <a:off x="207335" y="979081"/>
            <a:ext cx="8617328" cy="450112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3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b="1" dirty="0"/>
              <a:t>Evolution Progress:</a:t>
            </a:r>
            <a:endParaRPr lang="en-US" sz="1600" dirty="0">
              <a:solidFill>
                <a:schemeClr val="dk1"/>
              </a:solidFill>
              <a:latin typeface="Hind"/>
              <a:ea typeface="Hind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04C9A68-1B83-4042-9622-4839201828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541461"/>
              </p:ext>
            </p:extLst>
          </p:nvPr>
        </p:nvGraphicFramePr>
        <p:xfrm>
          <a:off x="1062370" y="1467478"/>
          <a:ext cx="6323915" cy="2145624"/>
        </p:xfrm>
        <a:graphic>
          <a:graphicData uri="http://schemas.openxmlformats.org/drawingml/2006/table">
            <a:tbl>
              <a:tblPr/>
              <a:tblGrid>
                <a:gridCol w="1264783">
                  <a:extLst>
                    <a:ext uri="{9D8B030D-6E8A-4147-A177-3AD203B41FA5}">
                      <a16:colId xmlns:a16="http://schemas.microsoft.com/office/drawing/2014/main" val="2190429458"/>
                    </a:ext>
                  </a:extLst>
                </a:gridCol>
                <a:gridCol w="1264783">
                  <a:extLst>
                    <a:ext uri="{9D8B030D-6E8A-4147-A177-3AD203B41FA5}">
                      <a16:colId xmlns:a16="http://schemas.microsoft.com/office/drawing/2014/main" val="2555517605"/>
                    </a:ext>
                  </a:extLst>
                </a:gridCol>
                <a:gridCol w="1264783">
                  <a:extLst>
                    <a:ext uri="{9D8B030D-6E8A-4147-A177-3AD203B41FA5}">
                      <a16:colId xmlns:a16="http://schemas.microsoft.com/office/drawing/2014/main" val="790155611"/>
                    </a:ext>
                  </a:extLst>
                </a:gridCol>
                <a:gridCol w="1264783">
                  <a:extLst>
                    <a:ext uri="{9D8B030D-6E8A-4147-A177-3AD203B41FA5}">
                      <a16:colId xmlns:a16="http://schemas.microsoft.com/office/drawing/2014/main" val="791259584"/>
                    </a:ext>
                  </a:extLst>
                </a:gridCol>
                <a:gridCol w="1264783">
                  <a:extLst>
                    <a:ext uri="{9D8B030D-6E8A-4147-A177-3AD203B41FA5}">
                      <a16:colId xmlns:a16="http://schemas.microsoft.com/office/drawing/2014/main" val="1644621409"/>
                    </a:ext>
                  </a:extLst>
                </a:gridCol>
              </a:tblGrid>
              <a:tr h="327998"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Generation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90A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B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A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B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Parent Fitness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90B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B8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B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C6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</a:rPr>
                        <a:t>Offspring Fitness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D0B8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BD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B8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C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Accepted?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10BD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B2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BD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2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l-GR" sz="1200">
                          <a:effectLst/>
                        </a:rPr>
                        <a:t>σ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90B2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B2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B2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C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243684"/>
                  </a:ext>
                </a:extLst>
              </a:tr>
              <a:tr h="204665"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1 (Init)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D0B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C6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B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C2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0.6440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50C6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C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C6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0A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-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50C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2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C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0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-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D0C2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2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12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0.20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D0C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C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CC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4E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2773262"/>
                  </a:ext>
                </a:extLst>
              </a:tr>
              <a:tr h="204665"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2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10C2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0A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C2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8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0.6440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500A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0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0A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88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0.6485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500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12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0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72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✓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D012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4E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12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A9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0.20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104E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4E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4E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77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018841"/>
                  </a:ext>
                </a:extLst>
              </a:tr>
              <a:tr h="204665"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3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D08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88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8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D3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0.6485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1088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072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88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88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0.6510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3072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0A9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072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05B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✓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30A9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77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0A9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A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0.20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C077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077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77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05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516689"/>
                  </a:ext>
                </a:extLst>
              </a:tr>
              <a:tr h="204665"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4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C0D3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88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0D3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01C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0.6510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1088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05B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88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6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0.6495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705B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A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05B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67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✗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10A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05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A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6C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</a:rPr>
                        <a:t>0.20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205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05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05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68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541710"/>
                  </a:ext>
                </a:extLst>
              </a:tr>
              <a:tr h="204665"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5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A01C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6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01C8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7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0.6510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106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67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6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7C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0.6520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5067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6C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67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7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✓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D06C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68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6C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7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0.20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9068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68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68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7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604414"/>
                  </a:ext>
                </a:extLst>
              </a:tr>
              <a:tr h="204665"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6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D07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7C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7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76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0.6520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907C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7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7C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8B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0.6518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D07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7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7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9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✗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507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7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7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8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0.24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507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7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7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87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457163"/>
                  </a:ext>
                </a:extLst>
              </a:tr>
              <a:tr h="295504">
                <a:tc>
                  <a:txBody>
                    <a:bodyPr/>
                    <a:lstStyle/>
                    <a:p>
                      <a:r>
                        <a:rPr lang="en-US" sz="900" dirty="0">
                          <a:effectLst/>
                        </a:rPr>
                        <a:t>(Plateau detected - stopped early)</a:t>
                      </a: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D076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8B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76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76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>
                        <a:effectLst/>
                      </a:endParaRP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108B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9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8B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8B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>
                        <a:effectLst/>
                      </a:endParaRP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109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8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9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9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>
                        <a:effectLst/>
                      </a:endParaRP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508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87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8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82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effectLst/>
                      </a:endParaRPr>
                    </a:p>
                  </a:txBody>
                  <a:tcPr marL="47788" marR="47788" marT="31859" marB="31859" anchor="ctr">
                    <a:lnL w="9525" cap="flat" cmpd="sng" algn="ctr">
                      <a:solidFill>
                        <a:srgbClr val="9087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87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87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87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6766805"/>
                  </a:ext>
                </a:extLst>
              </a:tr>
            </a:tbl>
          </a:graphicData>
        </a:graphic>
      </p:graphicFrame>
      <p:sp>
        <p:nvSpPr>
          <p:cNvPr id="11" name="Rectangle 4">
            <a:extLst>
              <a:ext uri="{FF2B5EF4-FFF2-40B4-BE49-F238E27FC236}">
                <a16:creationId xmlns:a16="http://schemas.microsoft.com/office/drawing/2014/main" id="{EEB06694-8CB1-457F-BB47-573CB3C93F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9700" y="13700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0647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AFF291-85BC-4C41-819C-93BE516B5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083" y="154185"/>
            <a:ext cx="6783834" cy="4835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0401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86070" y="212565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dirty="0">
                <a:solidFill>
                  <a:schemeClr val="dk1"/>
                </a:solidFill>
                <a:latin typeface="Space Grotesk"/>
                <a:ea typeface="Space Grotesk"/>
              </a:rPr>
              <a:t>FINAL MODEL PERFORMANCE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ubTitle"/>
          </p:nvPr>
        </p:nvSpPr>
        <p:spPr>
          <a:xfrm>
            <a:off x="297712" y="2884967"/>
            <a:ext cx="8617328" cy="204596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70000" lnSpcReduction="20000"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600" b="1" dirty="0">
                <a:solidFill>
                  <a:schemeClr val="dk1"/>
                </a:solidFill>
                <a:latin typeface="Hind"/>
                <a:ea typeface="Hind"/>
              </a:rPr>
              <a:t>Relative Improvement: </a:t>
            </a: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+3.6% over baseline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600" b="1" dirty="0">
              <a:solidFill>
                <a:schemeClr val="dk1"/>
              </a:solidFill>
              <a:latin typeface="Hind"/>
              <a:ea typeface="Hind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600" b="1" dirty="0">
                <a:solidFill>
                  <a:schemeClr val="dk1"/>
                </a:solidFill>
                <a:latin typeface="Hind"/>
                <a:ea typeface="Hind"/>
              </a:rPr>
              <a:t>Key Achievements: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Fixed severe underfitting from previous version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Achieved 66.67% test accuracy (vs ~28% before)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ES(1+1) successfully improved hyperparameters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Proper gradient flow with residual connections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dirty="0">
                <a:solidFill>
                  <a:schemeClr val="dk1"/>
                </a:solidFill>
                <a:latin typeface="Hind"/>
                <a:ea typeface="Hind"/>
              </a:rPr>
              <a:t>Self-adaptive mutation converged efficiently</a:t>
            </a:r>
          </a:p>
        </p:txBody>
      </p:sp>
      <p:sp>
        <p:nvSpPr>
          <p:cNvPr id="6" name="PlaceHolder 2">
            <a:extLst>
              <a:ext uri="{FF2B5EF4-FFF2-40B4-BE49-F238E27FC236}">
                <a16:creationId xmlns:a16="http://schemas.microsoft.com/office/drawing/2014/main" id="{858B9E23-5B37-462E-A228-B2690CAAEFE7}"/>
              </a:ext>
            </a:extLst>
          </p:cNvPr>
          <p:cNvSpPr txBox="1">
            <a:spLocks/>
          </p:cNvSpPr>
          <p:nvPr/>
        </p:nvSpPr>
        <p:spPr>
          <a:xfrm>
            <a:off x="186070" y="1491949"/>
            <a:ext cx="8617328" cy="450112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3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b="1" dirty="0"/>
              <a:t>Training with Optimized Hyperparameters (50 epochs):</a:t>
            </a:r>
            <a:endParaRPr lang="en-US" sz="1600" dirty="0">
              <a:solidFill>
                <a:schemeClr val="dk1"/>
              </a:solidFill>
              <a:latin typeface="Hind"/>
              <a:ea typeface="Hind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4A62E53-6F12-4A54-8256-49F09CC5F6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33888"/>
              </p:ext>
            </p:extLst>
          </p:nvPr>
        </p:nvGraphicFramePr>
        <p:xfrm>
          <a:off x="507040" y="1940189"/>
          <a:ext cx="7562852" cy="777240"/>
        </p:xfrm>
        <a:graphic>
          <a:graphicData uri="http://schemas.openxmlformats.org/drawingml/2006/table">
            <a:tbl>
              <a:tblPr/>
              <a:tblGrid>
                <a:gridCol w="1890713">
                  <a:extLst>
                    <a:ext uri="{9D8B030D-6E8A-4147-A177-3AD203B41FA5}">
                      <a16:colId xmlns:a16="http://schemas.microsoft.com/office/drawing/2014/main" val="1993110616"/>
                    </a:ext>
                  </a:extLst>
                </a:gridCol>
                <a:gridCol w="1890713">
                  <a:extLst>
                    <a:ext uri="{9D8B030D-6E8A-4147-A177-3AD203B41FA5}">
                      <a16:colId xmlns:a16="http://schemas.microsoft.com/office/drawing/2014/main" val="4197812170"/>
                    </a:ext>
                  </a:extLst>
                </a:gridCol>
                <a:gridCol w="1890713">
                  <a:extLst>
                    <a:ext uri="{9D8B030D-6E8A-4147-A177-3AD203B41FA5}">
                      <a16:colId xmlns:a16="http://schemas.microsoft.com/office/drawing/2014/main" val="2063381270"/>
                    </a:ext>
                  </a:extLst>
                </a:gridCol>
                <a:gridCol w="1890713">
                  <a:extLst>
                    <a:ext uri="{9D8B030D-6E8A-4147-A177-3AD203B41FA5}">
                      <a16:colId xmlns:a16="http://schemas.microsoft.com/office/drawing/2014/main" val="3692592982"/>
                    </a:ext>
                  </a:extLst>
                </a:gridCol>
              </a:tblGrid>
              <a:tr h="186017"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Model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F0EA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0E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EA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0D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Val Accuracy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B0E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00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0E9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1B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Test Accuracy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B00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01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00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2D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Improvement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701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01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010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31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2277886"/>
                  </a:ext>
                </a:extLst>
              </a:tr>
              <a:tr h="218367"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</a:rPr>
                        <a:t>Baseline CNN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300D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1B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00D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2A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64.40%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F01B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02D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1B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03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</a:rPr>
                        <a:t>64.37%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302D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031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02D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3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effectLst/>
                        </a:rPr>
                        <a:t>-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3031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031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031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04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4059283"/>
                  </a:ext>
                </a:extLst>
              </a:tr>
              <a:tr h="227178"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</a:rPr>
                        <a:t>ES(1+1) Optimized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F02A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03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2A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2A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</a:rPr>
                        <a:t>66.80%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703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03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03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03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</a:rPr>
                        <a:t>66.67%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303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04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03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03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effectLst/>
                        </a:rPr>
                        <a:t>+2.30%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B04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04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04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045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478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18936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459DCF6-3218-43A5-B18C-2C93CD40A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317" y="120592"/>
            <a:ext cx="3791361" cy="34705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590C5B-A6D8-4078-B054-B8D75FEADC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8125" y="3653189"/>
            <a:ext cx="4387744" cy="1369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8185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228600" y="542540"/>
            <a:ext cx="7696200" cy="66669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dirty="0">
                <a:solidFill>
                  <a:schemeClr val="dk1"/>
                </a:solidFill>
                <a:latin typeface="Space Grotesk"/>
                <a:ea typeface="Space Grotesk"/>
              </a:rPr>
              <a:t> CONCLUSIONS &amp; FUTURE WORK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228600" y="1213457"/>
            <a:ext cx="8596423" cy="3387502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1" dirty="0">
                <a:solidFill>
                  <a:schemeClr val="dk1"/>
                </a:solidFill>
                <a:latin typeface="Hind"/>
                <a:ea typeface="Hind"/>
              </a:rPr>
              <a:t>Key Achievements: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✓ Fixed underfitting: 28% → 66.67% (+138%)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✓ ES(1+1) automated HPO → +2.3% improvement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✓ Self-adaptive mutation converged in 6 generations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1" dirty="0">
                <a:solidFill>
                  <a:schemeClr val="dk1"/>
                </a:solidFill>
                <a:latin typeface="Hind"/>
                <a:ea typeface="Hind"/>
              </a:rPr>
              <a:t>Current Limitations: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ES(1+1) needs longer runs (20-30 generations)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Hind"/>
                <a:ea typeface="Hind"/>
              </a:rPr>
              <a:t>Mutation operators require architectural search support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1" u="sng" dirty="0">
                <a:solidFill>
                  <a:srgbClr val="FFFFFF"/>
                </a:solidFill>
                <a:latin typeface="OpenSymbol"/>
              </a:rPr>
              <a:t>Future Directions (Extra Credit):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 err="1">
                <a:solidFill>
                  <a:srgbClr val="FFFFFF"/>
                </a:solidFill>
                <a:latin typeface="OpenSymbol"/>
              </a:rPr>
              <a:t>Keras</a:t>
            </a:r>
            <a:r>
              <a:rPr lang="en-US" sz="1200" dirty="0">
                <a:solidFill>
                  <a:srgbClr val="FFFFFF"/>
                </a:solidFill>
                <a:latin typeface="OpenSymbol"/>
              </a:rPr>
              <a:t> Tuner for Advanced HPO: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7F2E526-DC47-4A6C-87BD-E080E7D3D1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5076276"/>
              </p:ext>
            </p:extLst>
          </p:nvPr>
        </p:nvGraphicFramePr>
        <p:xfrm>
          <a:off x="429068" y="3826728"/>
          <a:ext cx="7562850" cy="975360"/>
        </p:xfrm>
        <a:graphic>
          <a:graphicData uri="http://schemas.openxmlformats.org/drawingml/2006/table">
            <a:tbl>
              <a:tblPr/>
              <a:tblGrid>
                <a:gridCol w="2520950">
                  <a:extLst>
                    <a:ext uri="{9D8B030D-6E8A-4147-A177-3AD203B41FA5}">
                      <a16:colId xmlns:a16="http://schemas.microsoft.com/office/drawing/2014/main" val="3724420163"/>
                    </a:ext>
                  </a:extLst>
                </a:gridCol>
                <a:gridCol w="2520950">
                  <a:extLst>
                    <a:ext uri="{9D8B030D-6E8A-4147-A177-3AD203B41FA5}">
                      <a16:colId xmlns:a16="http://schemas.microsoft.com/office/drawing/2014/main" val="1553290344"/>
                    </a:ext>
                  </a:extLst>
                </a:gridCol>
                <a:gridCol w="2520950">
                  <a:extLst>
                    <a:ext uri="{9D8B030D-6E8A-4147-A177-3AD203B41FA5}">
                      <a16:colId xmlns:a16="http://schemas.microsoft.com/office/drawing/2014/main" val="921531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Method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105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5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5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52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Approach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505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5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5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5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Efficiency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105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05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54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5B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232445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Random Search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1052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5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52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6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Sample randomly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905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5B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5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5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Baseline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D05B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5B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5B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059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1169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Bayesian Opt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106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5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6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7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Gaussian process guided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D05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59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5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69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High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9059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059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059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6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70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Hyperband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107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069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07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071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effectLst/>
                        </a:rPr>
                        <a:t>Early stopping + resource allocation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5069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6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069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069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Very High</a:t>
                      </a:r>
                    </a:p>
                  </a:txBody>
                  <a:tcPr marL="57150" marR="57150" marT="38100" marB="38100" anchor="ctr">
                    <a:lnL w="9525" cap="flat" cmpd="sng" algn="ctr">
                      <a:solidFill>
                        <a:srgbClr val="D06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6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6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6E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6848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50963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299483" y="171093"/>
            <a:ext cx="5619240" cy="240065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72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Project Update - Final</a:t>
            </a:r>
            <a:endParaRPr lang="fr-FR" sz="72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310;p38"/>
          <p:cNvSpPr/>
          <p:nvPr/>
        </p:nvSpPr>
        <p:spPr>
          <a:xfrm>
            <a:off x="6657840" y="4324320"/>
            <a:ext cx="2180880" cy="15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Please keep this slide for attribution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CE7E954-7D6B-4FAF-9B98-4B6DCF0D7E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840" y="2929790"/>
            <a:ext cx="3143689" cy="2076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6426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43540" y="133920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fr-FR" sz="2600" b="1" dirty="0" err="1">
                <a:solidFill>
                  <a:schemeClr val="dk1"/>
                </a:solidFill>
                <a:latin typeface="Space Grotesk"/>
              </a:rPr>
              <a:t>Dataset</a:t>
            </a: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 Modification (25 → 10 Classes)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E150E4BE-3079-4FF0-BFFA-29EB79D7C56F}"/>
              </a:ext>
            </a:extLst>
          </p:cNvPr>
          <p:cNvSpPr>
            <a:spLocks noGrp="1" noChangeArrowheads="1"/>
          </p:cNvSpPr>
          <p:nvPr>
            <p:ph type="subTitle"/>
          </p:nvPr>
        </p:nvSpPr>
        <p:spPr bwMode="auto">
          <a:xfrm>
            <a:off x="2474506" y="1939377"/>
            <a:ext cx="541186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Original model trained on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25 classes → ~66% accuracy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Hind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Professor recommended reducing 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10 classes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Hind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Lower label complexity allowed: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Faster convergence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Clearer clusters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Improved feature separability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Preprocessing pipeline unchanged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Result: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Accuracy improved to ~73–74%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Hind"/>
            </a:endParaRPr>
          </a:p>
        </p:txBody>
      </p:sp>
    </p:spTree>
    <p:extLst>
      <p:ext uri="{BB962C8B-B14F-4D97-AF65-F5344CB8AC3E}">
        <p14:creationId xmlns:p14="http://schemas.microsoft.com/office/powerpoint/2010/main" val="5315614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932CD09-5996-415A-88CC-3BAAE9174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19" y="688104"/>
            <a:ext cx="8085036" cy="333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4710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43540" y="133920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Baseline CNN (10-Class) Architecture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1FBAE79-D0D4-49E9-AE74-BF79E8CC6542}"/>
              </a:ext>
            </a:extLst>
          </p:cNvPr>
          <p:cNvSpPr>
            <a:spLocks noGrp="1" noChangeArrowheads="1"/>
          </p:cNvSpPr>
          <p:nvPr>
            <p:ph type="subTitle"/>
          </p:nvPr>
        </p:nvSpPr>
        <p:spPr bwMode="auto">
          <a:xfrm>
            <a:off x="2474913" y="2077582"/>
            <a:ext cx="5699445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Same architecture as before for fair comparison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Layers:</a:t>
            </a:r>
          </a:p>
          <a:p>
            <a:pPr lvl="5" algn="l" rt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Conv →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ReLU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 →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MaxPool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Hind"/>
            </a:endParaRPr>
          </a:p>
          <a:p>
            <a:pPr lvl="1" algn="l" rt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Conv →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ReLU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 →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MaxPool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Hind"/>
            </a:endParaRPr>
          </a:p>
          <a:p>
            <a:pPr lvl="1" algn="l" rt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Dense →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ReLU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 →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Softmax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Hind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No hyperparameter tuning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Training stability significantly improved with fewer classes</a:t>
            </a:r>
          </a:p>
        </p:txBody>
      </p:sp>
    </p:spTree>
    <p:extLst>
      <p:ext uri="{BB962C8B-B14F-4D97-AF65-F5344CB8AC3E}">
        <p14:creationId xmlns:p14="http://schemas.microsoft.com/office/powerpoint/2010/main" val="41748175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43540" y="133920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Baseline CNN Performance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ECF9BC-2456-4319-92AA-1A1906A0C747}"/>
              </a:ext>
            </a:extLst>
          </p:cNvPr>
          <p:cNvSpPr>
            <a:spLocks noGrp="1" noChangeArrowheads="1"/>
          </p:cNvSpPr>
          <p:nvPr>
            <p:ph type="subTitle"/>
          </p:nvPr>
        </p:nvSpPr>
        <p:spPr bwMode="auto">
          <a:xfrm>
            <a:off x="2474913" y="1638360"/>
            <a:ext cx="640252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Final validation accuracy: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~74%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Hind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Reduced oscillations in loss curve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Misclassification drastically lowered for visually similar categories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Strong baseline for comparing ES and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Keras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 Tuner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BF7660-C887-4C06-A3CB-851230E90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851" y="3020265"/>
            <a:ext cx="3226226" cy="20270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6D1D353-5D1B-4BB4-A1A4-F3AE7308C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4735" y="2982537"/>
            <a:ext cx="2584307" cy="2055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17547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755821F-EDC2-44AE-8DBB-94D008F532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610" y="130939"/>
            <a:ext cx="5512780" cy="488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9989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43540" y="133920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ES(1+1) </a:t>
            </a:r>
            <a:r>
              <a:rPr lang="fr-FR" sz="2600" b="1" dirty="0" err="1">
                <a:solidFill>
                  <a:schemeClr val="dk1"/>
                </a:solidFill>
                <a:latin typeface="Space Grotesk"/>
              </a:rPr>
              <a:t>Overview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A3813C-C971-4770-9310-846DD93DAB26}"/>
              </a:ext>
            </a:extLst>
          </p:cNvPr>
          <p:cNvSpPr>
            <a:spLocks noGrp="1" noChangeArrowheads="1"/>
          </p:cNvSpPr>
          <p:nvPr>
            <p:ph type="subTitle"/>
          </p:nvPr>
        </p:nvSpPr>
        <p:spPr bwMode="auto">
          <a:xfrm>
            <a:off x="2474913" y="2354580"/>
            <a:ext cx="531722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Evolution Strategy optimizing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weights directly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Hind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Uses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mutation + 1/5th success rule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 to adapt step size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Operates independently of gradient descent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Advantage: can escape poor local minima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Same CNN architecture — only weights evolved</a:t>
            </a:r>
          </a:p>
        </p:txBody>
      </p:sp>
    </p:spTree>
    <p:extLst>
      <p:ext uri="{BB962C8B-B14F-4D97-AF65-F5344CB8AC3E}">
        <p14:creationId xmlns:p14="http://schemas.microsoft.com/office/powerpoint/2010/main" val="13825235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43540" y="133920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ES(1+1) </a:t>
            </a:r>
            <a:r>
              <a:rPr lang="fr-FR" sz="2600" b="1" dirty="0" err="1">
                <a:solidFill>
                  <a:schemeClr val="dk1"/>
                </a:solidFill>
                <a:latin typeface="Space Grotesk"/>
              </a:rPr>
              <a:t>Results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C1CB2C0-EACF-4A96-A86E-3CA04AD1E4A1}"/>
              </a:ext>
            </a:extLst>
          </p:cNvPr>
          <p:cNvSpPr>
            <a:spLocks noGrp="1" noChangeArrowheads="1"/>
          </p:cNvSpPr>
          <p:nvPr>
            <p:ph type="subTitle"/>
          </p:nvPr>
        </p:nvSpPr>
        <p:spPr bwMode="auto">
          <a:xfrm>
            <a:off x="2474913" y="1638211"/>
            <a:ext cx="555639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ES achieved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higher accuracy than baseline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Hind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Step-size plot shows adaptive convergence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Loss curve decreases smoothly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Confirms ES is highly effective for small/medium models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37BDE-ACAE-4166-BF08-FF77BB80F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292" y="2838540"/>
            <a:ext cx="3663708" cy="219679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E56B4E-3461-43AB-8225-33BFA58F9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5282" y="2838540"/>
            <a:ext cx="3132463" cy="219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7840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5E5453-ACC8-4ADC-8D4A-4C4C99C680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456" y="38147"/>
            <a:ext cx="5527087" cy="5067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0114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43540" y="133920"/>
            <a:ext cx="749592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800" dirty="0" err="1"/>
              <a:t>Keras</a:t>
            </a:r>
            <a:r>
              <a:rPr lang="en-US" sz="2800" dirty="0"/>
              <a:t> Tuner Hyperparameter Search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588B40-D78E-4317-834A-DDC681320986}"/>
              </a:ext>
            </a:extLst>
          </p:cNvPr>
          <p:cNvSpPr>
            <a:spLocks noGrp="1" noChangeArrowheads="1"/>
          </p:cNvSpPr>
          <p:nvPr>
            <p:ph type="subTitle"/>
          </p:nvPr>
        </p:nvSpPr>
        <p:spPr bwMode="auto">
          <a:xfrm>
            <a:off x="2474913" y="2077582"/>
            <a:ext cx="3869393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Explored architecture-level HPO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Search space included:</a:t>
            </a:r>
          </a:p>
          <a:p>
            <a:pPr lvl="1" eaLnBrk="0" fontAlgn="base" hangingPunct="0">
              <a:spcAft>
                <a:spcPct val="0"/>
              </a:spcAft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Filters, dense units</a:t>
            </a:r>
          </a:p>
          <a:p>
            <a:pPr lvl="1" eaLnBrk="0" fontAlgn="base" hangingPunct="0">
              <a:spcAft>
                <a:spcPct val="0"/>
              </a:spcAft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Learning rate, batch size</a:t>
            </a:r>
          </a:p>
          <a:p>
            <a:pPr lvl="1" eaLnBrk="0" fontAlgn="base" hangingPunct="0">
              <a:spcAft>
                <a:spcPct val="0"/>
              </a:spcAft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Dropout configurations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Ran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170 trials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 total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Hind"/>
              </a:rPr>
              <a:t>Each trial fully trained a unique model</a:t>
            </a:r>
          </a:p>
        </p:txBody>
      </p:sp>
    </p:spTree>
    <p:extLst>
      <p:ext uri="{BB962C8B-B14F-4D97-AF65-F5344CB8AC3E}">
        <p14:creationId xmlns:p14="http://schemas.microsoft.com/office/powerpoint/2010/main" val="35993350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43540" y="133920"/>
            <a:ext cx="7495920" cy="1085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fr-FR" sz="2600" b="1" dirty="0" err="1">
                <a:solidFill>
                  <a:schemeClr val="dk1"/>
                </a:solidFill>
                <a:latin typeface="Space Grotesk"/>
              </a:rPr>
              <a:t>Keras</a:t>
            </a: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 Tuner </a:t>
            </a:r>
            <a:r>
              <a:rPr lang="fr-FR" sz="2600" b="1" dirty="0" err="1">
                <a:solidFill>
                  <a:schemeClr val="dk1"/>
                </a:solidFill>
                <a:latin typeface="Space Grotesk"/>
              </a:rPr>
              <a:t>Hyperparameter</a:t>
            </a: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 </a:t>
            </a:r>
            <a:r>
              <a:rPr lang="fr-FR" sz="2600" b="1" dirty="0" err="1">
                <a:solidFill>
                  <a:schemeClr val="dk1"/>
                </a:solidFill>
                <a:latin typeface="Space Grotesk"/>
              </a:rPr>
              <a:t>Search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ECF9BC-2456-4319-92AA-1A1906A0C747}"/>
              </a:ext>
            </a:extLst>
          </p:cNvPr>
          <p:cNvSpPr>
            <a:spLocks noGrp="1" noChangeArrowheads="1"/>
          </p:cNvSpPr>
          <p:nvPr>
            <p:ph type="subTitle"/>
          </p:nvPr>
        </p:nvSpPr>
        <p:spPr bwMode="auto">
          <a:xfrm>
            <a:off x="2467825" y="1219200"/>
            <a:ext cx="5594930" cy="16435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1800" dirty="0">
                <a:latin typeface="Hind"/>
              </a:rPr>
              <a:t>Identified several promising architectures</a:t>
            </a:r>
          </a:p>
          <a:p>
            <a:r>
              <a:rPr lang="en-US" sz="1800" dirty="0">
                <a:latin typeface="Hind"/>
              </a:rPr>
              <a:t>However: </a:t>
            </a:r>
            <a:r>
              <a:rPr lang="en-US" sz="1800" b="1" dirty="0">
                <a:latin typeface="Hind"/>
              </a:rPr>
              <a:t>KT did not outperform ES(1+1) in your run</a:t>
            </a:r>
            <a:endParaRPr lang="en-US" sz="1800" dirty="0">
              <a:latin typeface="Hind"/>
            </a:endParaRPr>
          </a:p>
          <a:p>
            <a:r>
              <a:rPr lang="en-US" sz="1800" dirty="0">
                <a:latin typeface="Hind"/>
              </a:rPr>
              <a:t>Significantly higher compute cost due to deep exploration</a:t>
            </a:r>
          </a:p>
          <a:p>
            <a:r>
              <a:rPr lang="en-US" sz="1800" dirty="0">
                <a:latin typeface="Hind"/>
              </a:rPr>
              <a:t>Highlights contrast:</a:t>
            </a:r>
          </a:p>
          <a:p>
            <a:pPr lvl="1"/>
            <a:r>
              <a:rPr lang="en-US" b="1" dirty="0">
                <a:solidFill>
                  <a:schemeClr val="tx1"/>
                </a:solidFill>
                <a:latin typeface="Hind"/>
              </a:rPr>
              <a:t>ES</a:t>
            </a:r>
            <a:r>
              <a:rPr lang="en-US" dirty="0">
                <a:solidFill>
                  <a:schemeClr val="tx1"/>
                </a:solidFill>
                <a:latin typeface="Hind"/>
              </a:rPr>
              <a:t> → weight-level optimization</a:t>
            </a:r>
          </a:p>
          <a:p>
            <a:pPr lvl="1"/>
            <a:r>
              <a:rPr lang="en-US" b="1" dirty="0">
                <a:solidFill>
                  <a:schemeClr val="tx1"/>
                </a:solidFill>
                <a:latin typeface="Hind"/>
              </a:rPr>
              <a:t>KT</a:t>
            </a:r>
            <a:r>
              <a:rPr lang="en-US" dirty="0">
                <a:solidFill>
                  <a:schemeClr val="tx1"/>
                </a:solidFill>
                <a:latin typeface="Hind"/>
              </a:rPr>
              <a:t> → architecture-level optimization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1210D8-BCA1-421C-8EF0-B5173A86A1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905" y="2894087"/>
            <a:ext cx="4390117" cy="21154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3E47DC5-ACE5-4127-BECD-079071D7C0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6189"/>
          <a:stretch/>
        </p:blipFill>
        <p:spPr>
          <a:xfrm>
            <a:off x="5053177" y="3238831"/>
            <a:ext cx="3403252" cy="1600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3566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AD5758-16FD-4B83-B5DF-3AF199A5B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427" y="113298"/>
            <a:ext cx="5363145" cy="4916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5732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E8DE764-C3C9-4138-A944-1E9511982D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3651065"/>
            <a:ext cx="6248400" cy="1343025"/>
          </a:xfrm>
          <a:prstGeom prst="rect">
            <a:avLst/>
          </a:prstGeom>
        </p:spPr>
      </p:pic>
      <p:sp>
        <p:nvSpPr>
          <p:cNvPr id="5" name="PlaceHolder 1">
            <a:extLst>
              <a:ext uri="{FF2B5EF4-FFF2-40B4-BE49-F238E27FC236}">
                <a16:creationId xmlns:a16="http://schemas.microsoft.com/office/drawing/2014/main" id="{2A8F45B6-49F4-4894-884B-4A4785BA2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40" y="133920"/>
            <a:ext cx="7495920" cy="1085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Model </a:t>
            </a:r>
            <a:r>
              <a:rPr lang="fr-FR" sz="2600" b="1" dirty="0" err="1">
                <a:solidFill>
                  <a:schemeClr val="dk1"/>
                </a:solidFill>
                <a:latin typeface="Space Grotesk"/>
              </a:rPr>
              <a:t>Comparison</a:t>
            </a:r>
            <a:r>
              <a:rPr lang="fr-FR" sz="2600" b="1" dirty="0">
                <a:solidFill>
                  <a:schemeClr val="dk1"/>
                </a:solidFill>
                <a:latin typeface="Space Grotesk"/>
              </a:rPr>
              <a:t> </a:t>
            </a:r>
            <a:r>
              <a:rPr lang="fr-FR" sz="2600" b="1" dirty="0" err="1">
                <a:solidFill>
                  <a:schemeClr val="dk1"/>
                </a:solidFill>
                <a:latin typeface="Space Grotesk"/>
              </a:rPr>
              <a:t>Summary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6B144DE-EE8F-4BF3-AFDA-CBB4BE955D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1762618"/>
              </p:ext>
            </p:extLst>
          </p:nvPr>
        </p:nvGraphicFramePr>
        <p:xfrm>
          <a:off x="2530548" y="1219200"/>
          <a:ext cx="6124353" cy="1295400"/>
        </p:xfrm>
        <a:graphic>
          <a:graphicData uri="http://schemas.openxmlformats.org/drawingml/2006/table">
            <a:tbl>
              <a:tblPr/>
              <a:tblGrid>
                <a:gridCol w="2041451">
                  <a:extLst>
                    <a:ext uri="{9D8B030D-6E8A-4147-A177-3AD203B41FA5}">
                      <a16:colId xmlns:a16="http://schemas.microsoft.com/office/drawing/2014/main" val="2140399696"/>
                    </a:ext>
                  </a:extLst>
                </a:gridCol>
                <a:gridCol w="2041451">
                  <a:extLst>
                    <a:ext uri="{9D8B030D-6E8A-4147-A177-3AD203B41FA5}">
                      <a16:colId xmlns:a16="http://schemas.microsoft.com/office/drawing/2014/main" val="2727212816"/>
                    </a:ext>
                  </a:extLst>
                </a:gridCol>
                <a:gridCol w="2041451">
                  <a:extLst>
                    <a:ext uri="{9D8B030D-6E8A-4147-A177-3AD203B41FA5}">
                      <a16:colId xmlns:a16="http://schemas.microsoft.com/office/drawing/2014/main" val="2281664943"/>
                    </a:ext>
                  </a:extLst>
                </a:gridCol>
              </a:tblGrid>
              <a:tr h="180777">
                <a:tc>
                  <a:txBody>
                    <a:bodyPr/>
                    <a:lstStyle/>
                    <a:p>
                      <a:r>
                        <a:rPr lang="en-US" sz="1100" dirty="0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1988900"/>
                  </a:ext>
                </a:extLst>
              </a:tr>
              <a:tr h="180777">
                <a:tc>
                  <a:txBody>
                    <a:bodyPr/>
                    <a:lstStyle/>
                    <a:p>
                      <a:r>
                        <a:rPr lang="en-US" sz="1100" dirty="0"/>
                        <a:t>Baseline CNN (25 classes)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~66%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High label complexity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0759384"/>
                  </a:ext>
                </a:extLst>
              </a:tr>
              <a:tr h="180777">
                <a:tc>
                  <a:txBody>
                    <a:bodyPr/>
                    <a:lstStyle/>
                    <a:p>
                      <a:r>
                        <a:rPr lang="en-US" sz="1100" dirty="0"/>
                        <a:t>Baseline CNN (10 classes)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~74%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Cleaner, simpler task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906430"/>
                  </a:ext>
                </a:extLst>
              </a:tr>
              <a:tr h="180777">
                <a:tc>
                  <a:txBody>
                    <a:bodyPr/>
                    <a:lstStyle/>
                    <a:p>
                      <a:r>
                        <a:rPr lang="en-US" sz="1100" dirty="0"/>
                        <a:t>ES(1+1) CNN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/>
                        <a:t>Higher than baseline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Best-performing approach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7619059"/>
                  </a:ext>
                </a:extLst>
              </a:tr>
              <a:tr h="240912">
                <a:tc>
                  <a:txBody>
                    <a:bodyPr/>
                    <a:lstStyle/>
                    <a:p>
                      <a:r>
                        <a:rPr lang="en-US" sz="1100" dirty="0" err="1"/>
                        <a:t>Keras</a:t>
                      </a:r>
                      <a:r>
                        <a:rPr lang="en-US" sz="1100" dirty="0"/>
                        <a:t> Tuner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Did not surpass ES in this run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7529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F857FBE-FC01-4608-9033-1076A08E0C8D}"/>
              </a:ext>
            </a:extLst>
          </p:cNvPr>
          <p:cNvSpPr/>
          <p:nvPr/>
        </p:nvSpPr>
        <p:spPr>
          <a:xfrm>
            <a:off x="1896140" y="2571750"/>
            <a:ext cx="4572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>
                <a:latin typeface="Hind"/>
              </a:rPr>
              <a:t>Key insight:</a:t>
            </a:r>
            <a:br>
              <a:rPr lang="en-US" dirty="0">
                <a:latin typeface="Hind"/>
              </a:rPr>
            </a:br>
            <a:r>
              <a:rPr lang="en-US" dirty="0">
                <a:latin typeface="Hind"/>
              </a:rPr>
              <a:t>ES(1+1) offered the strongest improvement for your dataset and architecture size.</a:t>
            </a:r>
          </a:p>
        </p:txBody>
      </p:sp>
    </p:spTree>
    <p:extLst>
      <p:ext uri="{BB962C8B-B14F-4D97-AF65-F5344CB8AC3E}">
        <p14:creationId xmlns:p14="http://schemas.microsoft.com/office/powerpoint/2010/main" val="30729216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AC3AA33-6F4C-48C2-B89F-6A5BCD8AC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990" y="101338"/>
            <a:ext cx="6297629" cy="4940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8407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>
            <a:extLst>
              <a:ext uri="{FF2B5EF4-FFF2-40B4-BE49-F238E27FC236}">
                <a16:creationId xmlns:a16="http://schemas.microsoft.com/office/drawing/2014/main" id="{2A8F45B6-49F4-4894-884B-4A4785BA2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40" y="133920"/>
            <a:ext cx="7495920" cy="1085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dirty="0">
                <a:solidFill>
                  <a:schemeClr val="dk1"/>
                </a:solidFill>
                <a:latin typeface="Space Grotesk"/>
              </a:rPr>
              <a:t>Inference: Testing Saved Model on Real Images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331048-FB4D-4F59-A456-0F75F07851A1}"/>
              </a:ext>
            </a:extLst>
          </p:cNvPr>
          <p:cNvSpPr/>
          <p:nvPr/>
        </p:nvSpPr>
        <p:spPr>
          <a:xfrm>
            <a:off x="1896140" y="2571750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en-US" dirty="0">
              <a:latin typeface="Hind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71D37A-5A99-493D-ADE1-4EBC917B2710}"/>
              </a:ext>
            </a:extLst>
          </p:cNvPr>
          <p:cNvSpPr/>
          <p:nvPr/>
        </p:nvSpPr>
        <p:spPr>
          <a:xfrm>
            <a:off x="1717158" y="1219200"/>
            <a:ext cx="6590414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Hind"/>
              </a:rPr>
              <a:t>Implemented an independent inference cell to test trained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Hind"/>
              </a:rPr>
              <a:t>Loads the saved best model from Drive: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latin typeface="Hind"/>
              </a:rPr>
              <a:t>optimized_model_best.keras</a:t>
            </a:r>
            <a:r>
              <a:rPr lang="en-US" sz="1600" dirty="0">
                <a:latin typeface="Hind"/>
              </a:rPr>
              <a:t> (ES(1+1) or </a:t>
            </a:r>
            <a:r>
              <a:rPr lang="en-US" sz="1600" dirty="0" err="1">
                <a:latin typeface="Hind"/>
              </a:rPr>
              <a:t>Keras</a:t>
            </a:r>
            <a:r>
              <a:rPr lang="en-US" sz="1600" dirty="0">
                <a:latin typeface="Hind"/>
              </a:rPr>
              <a:t> Tuner)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Hind"/>
              </a:rPr>
              <a:t>Loads class indices from </a:t>
            </a:r>
            <a:r>
              <a:rPr lang="en-US" sz="1600" dirty="0" err="1">
                <a:latin typeface="Hind"/>
              </a:rPr>
              <a:t>class_indices.json</a:t>
            </a:r>
            <a:r>
              <a:rPr lang="en-US" sz="1600" dirty="0">
                <a:latin typeface="Hind"/>
              </a:rPr>
              <a:t> and reconstructs the 10-class label list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Hind"/>
              </a:rPr>
              <a:t>Given an image URL, the pipeline: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Hind"/>
              </a:rPr>
              <a:t>Downloads the image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Hind"/>
              </a:rPr>
              <a:t>Resizes to 224×224, normalizes to [0, 1]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Hind"/>
              </a:rPr>
              <a:t>Runs </a:t>
            </a:r>
            <a:r>
              <a:rPr lang="en-US" sz="1600" dirty="0" err="1">
                <a:latin typeface="Hind"/>
              </a:rPr>
              <a:t>model.predict</a:t>
            </a:r>
            <a:r>
              <a:rPr lang="en-US" sz="1600" dirty="0">
                <a:latin typeface="Hind"/>
              </a:rPr>
              <a:t>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Hind"/>
              </a:rPr>
              <a:t>Extracts Top-5 predicted classes and probabilities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Hind"/>
              </a:rPr>
              <a:t>Visual output: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Hind"/>
              </a:rPr>
              <a:t>Left: input food image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Hind"/>
              </a:rPr>
              <a:t>Right: Top-5 prediction bar chart with a 60% confidence threshold line</a:t>
            </a:r>
          </a:p>
        </p:txBody>
      </p:sp>
    </p:spTree>
    <p:extLst>
      <p:ext uri="{BB962C8B-B14F-4D97-AF65-F5344CB8AC3E}">
        <p14:creationId xmlns:p14="http://schemas.microsoft.com/office/powerpoint/2010/main" val="18419496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D09A16-79BD-453F-A209-9F95C5CBC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23" y="102182"/>
            <a:ext cx="8257953" cy="22968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A817CC-33AF-448E-BBE3-943BD06F7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092" y="2512391"/>
            <a:ext cx="6361815" cy="2449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688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>
            <a:extLst>
              <a:ext uri="{FF2B5EF4-FFF2-40B4-BE49-F238E27FC236}">
                <a16:creationId xmlns:a16="http://schemas.microsoft.com/office/drawing/2014/main" id="{2A8F45B6-49F4-4894-884B-4A4785BA2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40" y="133920"/>
            <a:ext cx="7495920" cy="158855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dirty="0">
                <a:solidFill>
                  <a:schemeClr val="dk1"/>
                </a:solidFill>
                <a:latin typeface="Space Grotesk"/>
              </a:rPr>
              <a:t>Final Observations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331048-FB4D-4F59-A456-0F75F07851A1}"/>
              </a:ext>
            </a:extLst>
          </p:cNvPr>
          <p:cNvSpPr/>
          <p:nvPr/>
        </p:nvSpPr>
        <p:spPr>
          <a:xfrm>
            <a:off x="1896140" y="2571750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en-US" dirty="0">
              <a:latin typeface="Hind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71D37A-5A99-493D-ADE1-4EBC917B2710}"/>
              </a:ext>
            </a:extLst>
          </p:cNvPr>
          <p:cNvSpPr/>
          <p:nvPr/>
        </p:nvSpPr>
        <p:spPr>
          <a:xfrm>
            <a:off x="1896140" y="2202418"/>
            <a:ext cx="659041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Reducing class count improved overall model efficiency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ES(1+1) successfully optimized CNN weights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Hind"/>
              </a:rPr>
              <a:t>Keras</a:t>
            </a:r>
            <a:r>
              <a:rPr lang="en-US" dirty="0">
                <a:latin typeface="Hind"/>
              </a:rPr>
              <a:t> Tuner mapped architectural design space extensively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Different optimization methods excel in different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Current best performer: </a:t>
            </a:r>
            <a:r>
              <a:rPr lang="en-US" b="1" dirty="0">
                <a:latin typeface="Hind"/>
              </a:rPr>
              <a:t>ES(1+1)</a:t>
            </a:r>
            <a:endParaRPr lang="en-US" dirty="0">
              <a:latin typeface="Hind"/>
            </a:endParaRPr>
          </a:p>
        </p:txBody>
      </p:sp>
    </p:spTree>
    <p:extLst>
      <p:ext uri="{BB962C8B-B14F-4D97-AF65-F5344CB8AC3E}">
        <p14:creationId xmlns:p14="http://schemas.microsoft.com/office/powerpoint/2010/main" val="15266074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>
            <a:extLst>
              <a:ext uri="{FF2B5EF4-FFF2-40B4-BE49-F238E27FC236}">
                <a16:creationId xmlns:a16="http://schemas.microsoft.com/office/drawing/2014/main" id="{2A8F45B6-49F4-4894-884B-4A4785BA2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40" y="133920"/>
            <a:ext cx="7495920" cy="1085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2600" b="1" dirty="0">
                <a:solidFill>
                  <a:schemeClr val="dk1"/>
                </a:solidFill>
                <a:latin typeface="Space Grotesk"/>
              </a:rPr>
              <a:t>Next Steps (Extra Credit + Future Work)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331048-FB4D-4F59-A456-0F75F07851A1}"/>
              </a:ext>
            </a:extLst>
          </p:cNvPr>
          <p:cNvSpPr/>
          <p:nvPr/>
        </p:nvSpPr>
        <p:spPr>
          <a:xfrm>
            <a:off x="1896140" y="2571750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en-US" dirty="0">
              <a:latin typeface="Hind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212493-E519-4B20-A814-1DD18484DF41}"/>
              </a:ext>
            </a:extLst>
          </p:cNvPr>
          <p:cNvSpPr/>
          <p:nvPr/>
        </p:nvSpPr>
        <p:spPr>
          <a:xfrm>
            <a:off x="1740194" y="1219200"/>
            <a:ext cx="7169889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implement DEAP (Distributed Evolutionary Algorithms in Python)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Use genetic algorithms with crossover + mutation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Optimize CNN weights or hyperparameters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Capture population-level evolutionary dynamics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Compare DEAP vs ES(1+1) vs </a:t>
            </a:r>
            <a:r>
              <a:rPr lang="en-US" dirty="0" err="1">
                <a:latin typeface="Hind"/>
              </a:rPr>
              <a:t>Keras</a:t>
            </a:r>
            <a:r>
              <a:rPr lang="en-US" dirty="0">
                <a:latin typeface="Hind"/>
              </a:rPr>
              <a:t> Tuner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Accuracy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Convergence speed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Stability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Compute 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Future enhancements: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Hybrid ES + DEAP strategies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Try deeper CNNs for 10-class subset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Hind"/>
              </a:rPr>
              <a:t>Explore augmentation + regularization tuning</a:t>
            </a:r>
          </a:p>
        </p:txBody>
      </p:sp>
    </p:spTree>
    <p:extLst>
      <p:ext uri="{BB962C8B-B14F-4D97-AF65-F5344CB8AC3E}">
        <p14:creationId xmlns:p14="http://schemas.microsoft.com/office/powerpoint/2010/main" val="2120050915"/>
      </p:ext>
    </p:extLst>
  </p:cSld>
  <p:clrMapOvr>
    <a:masterClrMapping/>
  </p:clrMapOvr>
</p:sld>
</file>

<file path=ppt/theme/theme1.xml><?xml version="1.0" encoding="utf-8"?>
<a:theme xmlns:a="http://schemas.openxmlformats.org/drawingml/2006/main" name="Dark Theme by Slidesgo">
  <a:themeElements>
    <a:clrScheme name="Simple Light">
      <a:dk1>
        <a:srgbClr val="FFFFFF"/>
      </a:dk1>
      <a:lt1>
        <a:srgbClr val="0D0D0D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359</TotalTime>
  <Words>2794</Words>
  <Application>Microsoft Office PowerPoint</Application>
  <PresentationFormat>On-screen Show (16:9)</PresentationFormat>
  <Paragraphs>504</Paragraphs>
  <Slides>48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48</vt:i4>
      </vt:variant>
    </vt:vector>
  </HeadingPairs>
  <TitlesOfParts>
    <vt:vector size="59" baseType="lpstr">
      <vt:lpstr>Arial</vt:lpstr>
      <vt:lpstr>Calibri</vt:lpstr>
      <vt:lpstr>Cascadia Code</vt:lpstr>
      <vt:lpstr>Cascadia Code Light</vt:lpstr>
      <vt:lpstr>Hind</vt:lpstr>
      <vt:lpstr>OpenSymbol</vt:lpstr>
      <vt:lpstr>Space Grotesk</vt:lpstr>
      <vt:lpstr>Symbol</vt:lpstr>
      <vt:lpstr>Wingdings</vt:lpstr>
      <vt:lpstr>Dark Theme by Slidesgo</vt:lpstr>
      <vt:lpstr>Slidesgo Final Pages</vt:lpstr>
      <vt:lpstr>Deep Food Image Classifier with ES(1+1)</vt:lpstr>
      <vt:lpstr>Project Goals &amp; Description</vt:lpstr>
      <vt:lpstr>Food dataset and preprocessing</vt:lpstr>
      <vt:lpstr>PowerPoint Presentation</vt:lpstr>
      <vt:lpstr>Baseline Model Design</vt:lpstr>
      <vt:lpstr>Baseline results and challenges</vt:lpstr>
      <vt:lpstr>output</vt:lpstr>
      <vt:lpstr>output</vt:lpstr>
      <vt:lpstr>output</vt:lpstr>
      <vt:lpstr>Next Steps and Outlook</vt:lpstr>
      <vt:lpstr>WSL2 GPU Training Setup &amp; Troubleshooting</vt:lpstr>
      <vt:lpstr>Project Overview</vt:lpstr>
      <vt:lpstr>Project Overview</vt:lpstr>
      <vt:lpstr>Project Overview</vt:lpstr>
      <vt:lpstr>EVOLUTIONARY STRATEGY (1+1) OPTIMIZATION LOOP</vt:lpstr>
      <vt:lpstr>EVOLUTIONARY STRATEGY (1+1) OPTIMIZATION LOOP</vt:lpstr>
      <vt:lpstr>Conclusions</vt:lpstr>
      <vt:lpstr>Project Update</vt:lpstr>
      <vt:lpstr>PROBLEM RECAP &amp; PREVIOUS ISSUES</vt:lpstr>
      <vt:lpstr>IMPROVED BASELINE ARCHITECTURE &amp; TRAINING OPTIMIZATIONS</vt:lpstr>
      <vt:lpstr>BASELINE RESULTS - MAJOR IMPROVEMENT</vt:lpstr>
      <vt:lpstr>PowerPoint Presentation</vt:lpstr>
      <vt:lpstr>PowerPoint Presentation</vt:lpstr>
      <vt:lpstr>ES(1+1) HYPERPARAMETER OPTIMIZATION</vt:lpstr>
      <vt:lpstr>ES(1+1) OPTIMIZATION PROCESS</vt:lpstr>
      <vt:lpstr>ES OPTIMIZATION RESULTS</vt:lpstr>
      <vt:lpstr>PowerPoint Presentation</vt:lpstr>
      <vt:lpstr>FINAL MODEL PERFORMANCE</vt:lpstr>
      <vt:lpstr>PowerPoint Presentation</vt:lpstr>
      <vt:lpstr> CONCLUSIONS &amp; FUTURE WORK</vt:lpstr>
      <vt:lpstr>Project Update - Final</vt:lpstr>
      <vt:lpstr>Dataset Modification (25 → 10 Classes)</vt:lpstr>
      <vt:lpstr>PowerPoint Presentation</vt:lpstr>
      <vt:lpstr>Baseline CNN (10-Class) Architecture</vt:lpstr>
      <vt:lpstr>Baseline CNN Performance</vt:lpstr>
      <vt:lpstr>PowerPoint Presentation</vt:lpstr>
      <vt:lpstr>ES(1+1) Overview</vt:lpstr>
      <vt:lpstr>ES(1+1) Results</vt:lpstr>
      <vt:lpstr>PowerPoint Presentation</vt:lpstr>
      <vt:lpstr>Keras Tuner Hyperparameter Search</vt:lpstr>
      <vt:lpstr>Keras Tuner Hyperparameter Search</vt:lpstr>
      <vt:lpstr>PowerPoint Presentation</vt:lpstr>
      <vt:lpstr>Model Comparison Summary</vt:lpstr>
      <vt:lpstr>PowerPoint Presentation</vt:lpstr>
      <vt:lpstr>Inference: Testing Saved Model on Real Images</vt:lpstr>
      <vt:lpstr>PowerPoint Presentation</vt:lpstr>
      <vt:lpstr>Final Observations</vt:lpstr>
      <vt:lpstr>Next Steps (Extra Credit + Future Work)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Food Image Classifier with ES(1+1)</dc:title>
  <dc:creator>harsha vardhan naidu</dc:creator>
  <cp:lastModifiedBy>harsha vardhan naidu</cp:lastModifiedBy>
  <cp:revision>18</cp:revision>
  <dcterms:modified xsi:type="dcterms:W3CDTF">2025-12-02T17:56:50Z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2025-11-10T22:09:23Z</dcterms:created>
  <dc:creator>Unknown Creator</dc:creator>
  <dc:description/>
  <dc:language>en-US</dc:language>
  <cp:lastModifiedBy>Unknown Creator</cp:lastModifiedBy>
  <dcterms:modified xsi:type="dcterms:W3CDTF">2025-11-10T22:09:23Z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13</vt:r8>
  </property>
</Properties>
</file>