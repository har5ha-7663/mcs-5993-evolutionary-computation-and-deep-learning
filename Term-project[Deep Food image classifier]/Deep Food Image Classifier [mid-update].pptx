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</p:sldMasterIdLst>
  <p:notesMasterIdLst>
    <p:notesMasterId r:id="rId21"/>
  </p:notesMasterIdLst>
  <p:sldIdLst>
    <p:sldId id="256" r:id="rId3"/>
    <p:sldId id="260" r:id="rId4"/>
    <p:sldId id="257" r:id="rId5"/>
    <p:sldId id="273" r:id="rId6"/>
    <p:sldId id="262" r:id="rId7"/>
    <p:sldId id="264" r:id="rId8"/>
    <p:sldId id="258" r:id="rId9"/>
    <p:sldId id="275" r:id="rId10"/>
    <p:sldId id="276" r:id="rId11"/>
    <p:sldId id="277" r:id="rId12"/>
    <p:sldId id="278" r:id="rId13"/>
    <p:sldId id="274" r:id="rId14"/>
    <p:sldId id="269" r:id="rId15"/>
    <p:sldId id="270" r:id="rId16"/>
    <p:sldId id="271" r:id="rId17"/>
    <p:sldId id="272" r:id="rId18"/>
    <p:sldId id="267" r:id="rId19"/>
    <p:sldId id="268" r:id="rId2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9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58AE8A-6502-4C75-804D-865BB6614FD9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221F7C-93DD-4F44-9295-D127ECAB38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137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221F7C-93DD-4F44-9295-D127ECAB38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1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444240"/>
            <a:ext cx="772272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1313280"/>
            <a:ext cx="657576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74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22860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75184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275184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2860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title"/>
          </p:nvPr>
        </p:nvSpPr>
        <p:spPr>
          <a:xfrm>
            <a:off x="275184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5655240" y="896040"/>
            <a:ext cx="3259800" cy="40183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888480"/>
            <a:ext cx="7495920" cy="150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2760" cy="98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78280" y="228600"/>
            <a:ext cx="4137120" cy="46861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28600" y="891720"/>
            <a:ext cx="3602520" cy="40230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228600" y="669600"/>
            <a:ext cx="561708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86;p18"/>
          <p:cNvSpPr/>
          <p:nvPr/>
        </p:nvSpPr>
        <p:spPr>
          <a:xfrm>
            <a:off x="6732360" y="3519720"/>
            <a:ext cx="218268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28600" y="766440"/>
            <a:ext cx="6203880" cy="2930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263360" y="803160"/>
            <a:ext cx="165168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28960" y="2807640"/>
            <a:ext cx="3693240" cy="18655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47635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94;p23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97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28600" y="447840"/>
            <a:ext cx="7724520" cy="242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dirty="0">
                <a:latin typeface="Space Grotesk"/>
              </a:rPr>
              <a:t>Deep Food Image Classifier with ES(1+1)</a:t>
            </a:r>
            <a:endParaRPr lang="fr-FR" b="0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2676600" y="3009960"/>
            <a:ext cx="6238440" cy="82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- Harsha Vardhan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Yellela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41" name="Google Shape;108;p25"/>
          <p:cNvCxnSpPr/>
          <p:nvPr/>
        </p:nvCxnSpPr>
        <p:spPr>
          <a:xfrm>
            <a:off x="114120" y="4451760"/>
            <a:ext cx="360" cy="7491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cxnSp>
        <p:nvCxnSpPr>
          <p:cNvPr id="42" name="Google Shape;109;p25"/>
          <p:cNvCxnSpPr/>
          <p:nvPr/>
        </p:nvCxnSpPr>
        <p:spPr>
          <a:xfrm>
            <a:off x="5219280" y="3838320"/>
            <a:ext cx="36964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71893" y="333067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Project Goals &amp; Description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2495606" y="2310103"/>
            <a:ext cx="6391080" cy="219810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Build a CNN-based classifier from scratch (no pretrained models).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Target: 25 American food categories (burgers, pancakes, pizza, etc.).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Architecture: 3 convolutional blocks + batch normalization + dropout.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Optimize using Evolutionary Strategy (1+1) to evolve LR, batch size, depth.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Final output detects if input is American food or outside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dirty="0">
                <a:solidFill>
                  <a:schemeClr val="dk1"/>
                </a:solidFill>
                <a:latin typeface="Space Grotesk"/>
              </a:rPr>
              <a:t>Food </a:t>
            </a:r>
            <a:r>
              <a:rPr lang="fr-FR" sz="2600" dirty="0" err="1">
                <a:solidFill>
                  <a:schemeClr val="dk1"/>
                </a:solidFill>
                <a:latin typeface="Space Grotesk"/>
              </a:rPr>
              <a:t>dataset</a:t>
            </a:r>
            <a:r>
              <a:rPr lang="fr-FR" sz="2600" dirty="0">
                <a:solidFill>
                  <a:schemeClr val="dk1"/>
                </a:solidFill>
                <a:latin typeface="Space Grotesk"/>
              </a:rPr>
              <a:t> and </a:t>
            </a:r>
            <a:r>
              <a:rPr lang="fr-FR" sz="2600" dirty="0" err="1">
                <a:solidFill>
                  <a:schemeClr val="dk1"/>
                </a:solidFill>
                <a:latin typeface="Space Grotesk"/>
              </a:rPr>
              <a:t>preprocessing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185760" y="1333354"/>
            <a:ext cx="4352400" cy="2695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Dataset size: ~10 GB, curated from Food-101 and other sources.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Classes: 25 American foods (e.g., ribs, fries, waffles, cheesecake).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Split: 70% Train | 15% Validation | 15% Test.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Preprocessing: resize 224×224×3, normalize [0–1], augment flip/rotation.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Implemented via TensorFlow </a:t>
            </a:r>
            <a:r>
              <a:rPr lang="en-US" sz="1200" dirty="0" err="1"/>
              <a:t>ImageDataGenerator</a:t>
            </a:r>
            <a:r>
              <a:rPr lang="en-US" sz="1200" dirty="0"/>
              <a:t> and </a:t>
            </a:r>
            <a:r>
              <a:rPr lang="en-US" sz="1200" dirty="0" err="1"/>
              <a:t>image_dataset_from_directory</a:t>
            </a:r>
            <a:r>
              <a:rPr lang="en-US" sz="12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endParaRPr lang="en-US"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857FE8-ECF1-494B-B08E-FB07680F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188" y="0"/>
            <a:ext cx="653296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7D148C-93CE-4565-8906-52C7D6F40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6" y="821169"/>
            <a:ext cx="8219507" cy="350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8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86070" y="212565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Baseline Model Design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2523960" y="2076893"/>
            <a:ext cx="6391080" cy="218046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CNN Architecture: 3 Conv Blocks (64→128→256 filters) + </a:t>
            </a:r>
            <a:r>
              <a:rPr lang="en-US" sz="1600" dirty="0" err="1">
                <a:solidFill>
                  <a:schemeClr val="dk1"/>
                </a:solidFill>
                <a:latin typeface="Hind"/>
                <a:ea typeface="Hind"/>
              </a:rPr>
              <a:t>MaxPooling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Dense layers: 512 </a:t>
            </a:r>
            <a:r>
              <a:rPr lang="en-US" sz="1600" dirty="0" err="1">
                <a:solidFill>
                  <a:schemeClr val="dk1"/>
                </a:solidFill>
                <a:latin typeface="Hind"/>
                <a:ea typeface="Hind"/>
              </a:rPr>
              <a:t>ReLU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 + Dropout(0.5) + </a:t>
            </a:r>
            <a:r>
              <a:rPr lang="en-US" sz="1600" dirty="0" err="1">
                <a:solidFill>
                  <a:schemeClr val="dk1"/>
                </a:solidFill>
                <a:latin typeface="Hind"/>
                <a:ea typeface="Hind"/>
              </a:rPr>
              <a:t>Softmax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(25).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≈7M parameters, trained from scratch.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Environment: Dual RTX 3090 GPUs, Adam(3e-4), batch 32, 10 epochs.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Pipeline optimized with caching and prefetch for GPU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71893" y="325979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Baseline results and challenges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2083981"/>
            <a:ext cx="6391080" cy="21733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Validation accuracy: ~4% — strong underfitting observed.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Flat loss curves → insufficient model capacity or static LR.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Confusion matrix shows misclassification across most classes.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Next phase: Apply ES(1+1) to evolve learning rate, dropout, and filters.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Goal: adaptive optimization to improve convergence.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output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600164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118/118 [==============================] - 5s 28ms/step - loss: 3.2189 - accuracy: 0.0400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Test Accuracy: 4.00%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118/118 [==============================] - 6s 38ms/step</a:t>
            </a:r>
            <a:endParaRPr lang="en-US" sz="1000" b="0" u="none" strike="noStrike" dirty="0">
              <a:solidFill>
                <a:schemeClr val="dk1"/>
              </a:solidFill>
              <a:effectLst/>
              <a:uFillTx/>
              <a:latin typeface="Cascadia Code" panose="020B0609020000020004" pitchFamily="49" charset="0"/>
              <a:ea typeface="Hind"/>
              <a:cs typeface="Cascadia Code" panose="020B06090200000200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2476D5-AC91-4559-AE07-2D8A031B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620" y="1222607"/>
            <a:ext cx="3868759" cy="35644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output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420115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precision    recall  f1-score   support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baby_back_ribs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cheesecake       0.00      0.00      0.00       150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chicken_wings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chocolate_mousse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churros       0.00      0.00      0.00       150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club_sandwich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donuts       0.00      0.00      0.00       150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french_fries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greek_salad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grilled_cheese_sandwich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hamburger       0.00      0.00      0.00       150  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hot_dog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ice_cream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lobster_roll_sandwich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macaroni_and_cheese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macarons       0.00      0.00      0.00       150 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omelette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onion_rings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pancakes       0.00      0.00      0.00       150  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pizza       0.00      0.00      0.00       150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pork_chop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prime_rib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pulled_pork_sandwich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0.04      1.00      0.08       150  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steak       0.00      0.00      0.00       150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waffles       0.00      0.00      0.00       150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accuracy                           0.04      3750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macro avg       0.00      0.04      0.00      3750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weighted avg       0.00      0.04      0.00      3750</a:t>
            </a:r>
            <a:endParaRPr lang="en-US" sz="1000" b="0" u="none" strike="noStrike" dirty="0">
              <a:solidFill>
                <a:schemeClr val="dk1"/>
              </a:solidFill>
              <a:effectLst/>
              <a:uFillTx/>
              <a:latin typeface="Cascadia Code" panose="020B0609020000020004" pitchFamily="49" charset="0"/>
              <a:ea typeface="Hind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837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output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4D85AC-46E7-4055-844D-AD2BCD08C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493" y="645259"/>
            <a:ext cx="4845013" cy="3852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98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Next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Steps</a:t>
            </a: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 and Outlook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2083981"/>
            <a:ext cx="6391080" cy="21733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Integrate ES(1+1) algorithm with 1/5 success rule.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Fitness = validation accuracy per generation.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Evolve hyperparameters: LR, batch size, dropout rate, layer depth.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Compare baseline CNN vs ES-optimized CNN.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Visualize evolution of fitness across generations.</a:t>
            </a:r>
          </a:p>
        </p:txBody>
      </p:sp>
    </p:spTree>
    <p:extLst>
      <p:ext uri="{BB962C8B-B14F-4D97-AF65-F5344CB8AC3E}">
        <p14:creationId xmlns:p14="http://schemas.microsoft.com/office/powerpoint/2010/main" val="147811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809074" cy="5156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WSL2 GPU Training Setup &amp; Troubleshooting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228600" y="871740"/>
            <a:ext cx="4352400" cy="40429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u="sng" dirty="0">
                <a:solidFill>
                  <a:srgbClr val="FFFFFF"/>
                </a:solidFill>
                <a:latin typeface="OpenSymbol"/>
              </a:rPr>
              <a:t>Setup Overview</a:t>
            </a: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Environment: </a:t>
            </a:r>
          </a:p>
          <a:p>
            <a:pPr marL="171450" lvl="6" indent="-171450"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100" dirty="0">
                <a:solidFill>
                  <a:srgbClr val="FFFFFF"/>
                </a:solidFill>
                <a:latin typeface="OpenSymbol"/>
              </a:rPr>
              <a:t>Windows 11 + WSL2 (Ubuntu 22.04)</a:t>
            </a:r>
          </a:p>
          <a:p>
            <a:pPr marL="171450" lvl="1" indent="-171450"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100" dirty="0">
                <a:solidFill>
                  <a:srgbClr val="FFFFFF"/>
                </a:solidFill>
                <a:latin typeface="OpenSymbol"/>
              </a:rPr>
              <a:t>CUDA 13.0, </a:t>
            </a:r>
            <a:r>
              <a:rPr lang="en-US" sz="1100" dirty="0" err="1">
                <a:solidFill>
                  <a:srgbClr val="FFFFFF"/>
                </a:solidFill>
                <a:latin typeface="OpenSymbol"/>
              </a:rPr>
              <a:t>cuDNN</a:t>
            </a:r>
            <a:r>
              <a:rPr lang="en-US" sz="1100" dirty="0">
                <a:solidFill>
                  <a:srgbClr val="FFFFFF"/>
                </a:solidFill>
                <a:latin typeface="OpenSymbol"/>
              </a:rPr>
              <a:t>, TensorFlow GPU 2.17</a:t>
            </a:r>
          </a:p>
          <a:p>
            <a:pPr marL="171450" lvl="1" indent="-171450"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100" dirty="0">
                <a:solidFill>
                  <a:srgbClr val="FFFFFF"/>
                </a:solidFill>
                <a:latin typeface="OpenSymbol"/>
              </a:rPr>
              <a:t>Dual NVIDIA RTX 3090 (24 GB each)</a:t>
            </a:r>
          </a:p>
          <a:p>
            <a:pPr marL="228600" indent="-22860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Miniconda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virtual environment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tf-gpu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Tools used: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JupyterLab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via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MobaXterm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remote terminal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Verified GPU access with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nvidia-smi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Mixed precision +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MirroredStrategy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for parallel training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Problems Faced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Out-Of-Memory (OOM) during long epochs → WSL2 default memory cap too low.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Swap file creation failed (The parameter is incorrect) — Windows swap misconfigured.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cuBLAS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registration errors when multiple CUDA contexts conflicted.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Training slower than expected due to dataset prefetch causing CPU memory exhaustion.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2D170E7-63B6-47A1-98F6-219FEC3503BB}"/>
              </a:ext>
            </a:extLst>
          </p:cNvPr>
          <p:cNvSpPr txBox="1">
            <a:spLocks/>
          </p:cNvSpPr>
          <p:nvPr/>
        </p:nvSpPr>
        <p:spPr>
          <a:xfrm>
            <a:off x="4633137" y="871740"/>
            <a:ext cx="4352400" cy="40429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Recovery &amp; Fixes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Edited .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wslconfig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: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[wsl2]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memory=20GB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swap=8GB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 err="1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swapFile</a:t>
            </a: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=C:\\</a:t>
            </a:r>
            <a:r>
              <a:rPr lang="en-US" sz="800" dirty="0" err="1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wsl-swap.vhdx</a:t>
            </a:r>
            <a:endParaRPr lang="en-US" sz="800" dirty="0">
              <a:solidFill>
                <a:srgbClr val="FFFFFF"/>
              </a:solidFill>
              <a:latin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 err="1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localhostForwarding</a:t>
            </a: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=true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Manually created swap disk using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PowerShell:fsutil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file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createnew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C:\wsl-swap.vhdx 8589934592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Disabled excess prefetch (.prefetch(2) instead of AUTOTUNE) to balance RAM use.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Used single-GPU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MirroredStrategy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(devices=["/gpu:0"]) for stability.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Validated with free -h and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nvidia-smi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→ consistent 90–95% GPU utilization, no crashes.</a:t>
            </a:r>
          </a:p>
        </p:txBody>
      </p:sp>
    </p:spTree>
    <p:extLst>
      <p:ext uri="{BB962C8B-B14F-4D97-AF65-F5344CB8AC3E}">
        <p14:creationId xmlns:p14="http://schemas.microsoft.com/office/powerpoint/2010/main" val="3504035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447814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│                     DATA INPUT PIPELINE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Load raw food images (25 American food categories)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Examples: burger, pizza, ribs, fries, waffles, etc.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Preprocessing: 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Resize images to 224×224×3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Normalize pixel values to [0,1]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Augment data: random flip, rotation, brightness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Split into Train (70%), Val (15%), Test (15%)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                BASELINE CNN MODEL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Input Layer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Shape: 224×224×3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└───────┬───────┘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</p:txBody>
      </p:sp>
    </p:spTree>
    <p:extLst>
      <p:ext uri="{BB962C8B-B14F-4D97-AF65-F5344CB8AC3E}">
        <p14:creationId xmlns:p14="http://schemas.microsoft.com/office/powerpoint/2010/main" val="3348964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447814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Convolutional Block 1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Conv2D(64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, padding='same')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BatchNormalization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()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Conv2D(64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MaxPooling2D()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Dropout(0.3)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Convolutional Block 2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Conv2D(128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, padding='same')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BatchNormalization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()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Conv2D(128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MaxPooling2D()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Dropout(0.4)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Convolutional Block 3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Conv2D(256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, padding='same')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BatchNormalization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()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Conv2D(256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MaxPooling2D()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Dropout(0.5)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8091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198515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Flatten + Dense Layers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Flatten()   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Dense(512,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Dropout(0.5)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Dense(25,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Softmax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→ Outputs food class probabilities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   OUTPUT: Predicted food class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e.g., “Cheeseburger”, “Waffles”, or “Outside scope”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450978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474919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EVOLUTIONARY STRATEGY (1+1) OPTIMIZATION LOOP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311889" y="1380899"/>
            <a:ext cx="8674035" cy="3508653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Initialize hyperparameters: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Learning rate (LR)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Batch size 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 rate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Number of filters per block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Train CNN → Evaluate on Validation Set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Compute fitness = validation accuracy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Generate offspring (mutate hyperparameters)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Small random change to LR, batch size, dropout, etc.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Train and evaluate new model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</p:txBody>
      </p:sp>
    </p:spTree>
    <p:extLst>
      <p:ext uri="{BB962C8B-B14F-4D97-AF65-F5344CB8AC3E}">
        <p14:creationId xmlns:p14="http://schemas.microsoft.com/office/powerpoint/2010/main" val="939587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EVOLUTIONARY STRATEGY (1+1) OPTIMIZATION LOOP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34982" y="913067"/>
            <a:ext cx="8674035" cy="198515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Apply 1/5 success rule: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If offspring performs better → accept &amp; increase step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Else → revert and reduce step size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Iterate over generations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Final optimized model → retrain on combined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train+val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Test final accuracy on held-out test data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Expected improvement: 15–25% accuracy gain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085657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Conclusions</a:t>
            </a:r>
            <a:endParaRPr lang="fr-FR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296282" y="936405"/>
            <a:ext cx="6565262" cy="338750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Environment ready: WSL2 + CUDA; dual RTX 3090 recognized.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Dataset prepared: 25 balanced classes, split 70/15/15.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Pipeline verified: loaders, augmentation, and </a:t>
            </a:r>
            <a:r>
              <a:rPr lang="en-US" sz="1200" dirty="0" err="1">
                <a:solidFill>
                  <a:schemeClr val="dk1"/>
                </a:solidFill>
                <a:latin typeface="Hind"/>
                <a:ea typeface="Hind"/>
              </a:rPr>
              <a:t>tf.data</a:t>
            </a: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 caching/prefetch working.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Training attempt: model stuck at ~4% (predicting one class) → baseline not established yet.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Immediate fixes (in progress): unify to </a:t>
            </a:r>
            <a:r>
              <a:rPr lang="en-US" sz="1200" dirty="0" err="1">
                <a:solidFill>
                  <a:schemeClr val="dk1"/>
                </a:solidFill>
                <a:latin typeface="Hind"/>
                <a:ea typeface="Hind"/>
              </a:rPr>
              <a:t>tf.data</a:t>
            </a: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 only, run 100-image overfit check, reduce dropout, tune LR.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Near-term goal: get a learning baseline, then apply ES(1+1) to evolve LR, batch size, and depth.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28600" y="-416160"/>
            <a:ext cx="5619240" cy="2377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72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Thank you</a:t>
            </a:r>
            <a:endParaRPr lang="fr-FR" sz="7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310;p38"/>
          <p:cNvSpPr/>
          <p:nvPr/>
        </p:nvSpPr>
        <p:spPr>
          <a:xfrm>
            <a:off x="6657840" y="4324320"/>
            <a:ext cx="2180880" cy="15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Please keep this slide for attribution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E7E954-7D6B-4FAF-9B98-4B6DCF0D7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840" y="2929790"/>
            <a:ext cx="3143689" cy="20767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</TotalTime>
  <Words>1510</Words>
  <Application>Microsoft Office PowerPoint</Application>
  <PresentationFormat>On-screen Show (16:9)</PresentationFormat>
  <Paragraphs>222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Arial</vt:lpstr>
      <vt:lpstr>Calibri</vt:lpstr>
      <vt:lpstr>Cascadia Code</vt:lpstr>
      <vt:lpstr>Cascadia Code Light</vt:lpstr>
      <vt:lpstr>Hind</vt:lpstr>
      <vt:lpstr>OpenSymbol</vt:lpstr>
      <vt:lpstr>Space Grotesk</vt:lpstr>
      <vt:lpstr>Symbol</vt:lpstr>
      <vt:lpstr>Wingdings</vt:lpstr>
      <vt:lpstr>Dark Theme by Slidesgo</vt:lpstr>
      <vt:lpstr>Slidesgo Final Pages</vt:lpstr>
      <vt:lpstr>Deep Food Image Classifier with ES(1+1)</vt:lpstr>
      <vt:lpstr>Project Goals &amp; Description</vt:lpstr>
      <vt:lpstr>Food dataset and preprocessing</vt:lpstr>
      <vt:lpstr>PowerPoint Presentation</vt:lpstr>
      <vt:lpstr>Baseline Model Design</vt:lpstr>
      <vt:lpstr>Baseline results and challenges</vt:lpstr>
      <vt:lpstr>output</vt:lpstr>
      <vt:lpstr>output</vt:lpstr>
      <vt:lpstr>output</vt:lpstr>
      <vt:lpstr>Next Steps and Outlook</vt:lpstr>
      <vt:lpstr>WSL2 GPU Training Setup &amp; Troubleshooting</vt:lpstr>
      <vt:lpstr>Project Overview</vt:lpstr>
      <vt:lpstr>Project Overview</vt:lpstr>
      <vt:lpstr>Project Overview</vt:lpstr>
      <vt:lpstr>EVOLUTIONARY STRATEGY (1+1) OPTIMIZATION LOOP</vt:lpstr>
      <vt:lpstr>EVOLUTIONARY STRATEGY (1+1) OPTIMIZATION LOOP</vt:lpstr>
      <vt:lpstr>Conclusions</vt:lpstr>
      <vt:lpstr>Thank you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Food Image Classifier with ES(1+1)</dc:title>
  <dc:creator>harsha vardhan naidu</dc:creator>
  <cp:lastModifiedBy>harsha vardhan naidu</cp:lastModifiedBy>
  <cp:revision>7</cp:revision>
  <dcterms:modified xsi:type="dcterms:W3CDTF">2025-11-10T23:03:41Z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2025-11-10T22:09:23Z</dcterms:created>
  <dc:creator>Unknown Creator</dc:creator>
  <dc:description/>
  <dc:language>en-US</dc:language>
  <cp:lastModifiedBy>Unknown Creator</cp:lastModifiedBy>
  <dcterms:modified xsi:type="dcterms:W3CDTF">2025-11-10T22:09:23Z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13</vt:r8>
  </property>
</Properties>
</file>